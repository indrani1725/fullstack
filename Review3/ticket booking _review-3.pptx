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2" r:id="rId14"/>
    <p:sldId id="268" r:id="rId15"/>
    <p:sldId id="271" r:id="rId16"/>
    <p:sldId id="270" r:id="rId17"/>
    <p:sldId id="265" r:id="rId18"/>
  </p:sldIdLst>
  <p:sldSz cx="18288000" cy="10287000"/>
  <p:notesSz cx="6858000" cy="9144000"/>
  <p:embeddedFontLst>
    <p:embeddedFont>
      <p:font typeface="Cambria" panose="02040503050406030204" pitchFamily="18" charset="0"/>
      <p:regular r:id="rId19"/>
      <p:bold r:id="rId20"/>
      <p:italic r:id="rId21"/>
      <p:boldItalic r:id="rId22"/>
    </p:embeddedFont>
    <p:embeddedFont>
      <p:font typeface="Gotham"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29" y="-2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742035" y="208674"/>
            <a:ext cx="4504690"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Vel Tech Rangarajan Dr. Sagunthala R&amp;D Institute of Science and Technology</a:t>
            </a:r>
          </a:p>
          <a:p>
            <a:pPr algn="ctr"/>
            <a:r>
              <a:rPr lang="en-US" sz="3600" b="1" dirty="0">
                <a:latin typeface="Times New Roman" panose="02020603050405020304" pitchFamily="18" charset="0"/>
                <a:ea typeface="Cambria" panose="02040503050406030204" pitchFamily="18" charset="0"/>
                <a:cs typeface="Times New Roman" panose="02020603050405020304" pitchFamily="18" charset="0"/>
              </a:rPr>
              <a:t>School of Computing </a:t>
            </a:r>
          </a:p>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Department of Computer Science and Engineering</a:t>
            </a:r>
            <a:endParaRPr lang="en-IN" sz="3200" b="1"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Times New Roman" panose="02020603050405020304" pitchFamily="18" charset="0"/>
                <a:cs typeface="Times New Roman" panose="02020603050405020304" pitchFamily="18" charset="0"/>
              </a:rPr>
              <a:t>10211CS224 / FULL STACK APPLICATION DEVELOPMENT (JAVA)</a:t>
            </a:r>
            <a:endParaRPr lang="en-IN" sz="2800" b="1" dirty="0">
              <a:solidFill>
                <a:srgbClr val="0033CC"/>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a:solidFill>
                  <a:srgbClr val="C00000"/>
                </a:solidFill>
                <a:latin typeface="Times New Roman" panose="02020603050405020304" pitchFamily="18" charset="0"/>
                <a:cs typeface="Times New Roman" panose="02020603050405020304" pitchFamily="18" charset="0"/>
              </a:rPr>
              <a:t> END SEMISTER PROJECT REVIEW</a:t>
            </a:r>
            <a:endParaRPr lang="en-IN" sz="3600" b="1" dirty="0">
              <a:solidFill>
                <a:srgbClr val="C00000"/>
              </a:solidFill>
              <a:latin typeface="Times New Roman" panose="02020603050405020304" pitchFamily="18" charset="0"/>
              <a:cs typeface="Times New Roman" panose="02020603050405020304" pitchFamily="18"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Times New Roman" panose="02020603050405020304" pitchFamily="18" charset="0"/>
                <a:cs typeface="Times New Roman" panose="02020603050405020304" pitchFamily="18" charset="0"/>
              </a:rPr>
              <a:t>Date</a:t>
            </a:r>
            <a:r>
              <a:rPr lang="en-IN" sz="3600" b="1">
                <a:solidFill>
                  <a:srgbClr val="C00000"/>
                </a:solidFill>
                <a:latin typeface="Times New Roman" panose="02020603050405020304" pitchFamily="18" charset="0"/>
                <a:cs typeface="Times New Roman" panose="02020603050405020304" pitchFamily="18" charset="0"/>
              </a:rPr>
              <a:t>: 06-05-2026</a:t>
            </a:r>
            <a:endParaRPr lang="en-IN" sz="3600" b="1" dirty="0">
              <a:solidFill>
                <a:srgbClr val="C0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1516880" y="5831646"/>
            <a:ext cx="15784162" cy="584775"/>
          </a:xfrm>
          <a:prstGeom prst="rect">
            <a:avLst/>
          </a:prstGeom>
          <a:noFill/>
        </p:spPr>
        <p:txBody>
          <a:bodyPr wrap="square" rtlCol="0">
            <a:spAutoFit/>
          </a:bodyPr>
          <a:lstStyle/>
          <a:p>
            <a:pPr algn="ctr"/>
            <a:r>
              <a:rPr lang="en-US" sz="3200" b="1">
                <a:solidFill>
                  <a:srgbClr val="0033CC"/>
                </a:solidFill>
                <a:latin typeface="Times New Roman" panose="02020603050405020304" pitchFamily="18" charset="0"/>
                <a:cs typeface="Times New Roman" panose="02020603050405020304" pitchFamily="18" charset="0"/>
              </a:rPr>
              <a:t>React Js Based Web Application For Ticket Booking Of An Internal Department Event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1028700" y="7775638"/>
            <a:ext cx="9067800" cy="1353704"/>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2800">
                <a:latin typeface="Times New Roman" panose="02020603050405020304" pitchFamily="18" charset="0"/>
                <a:ea typeface="Cambria" panose="02040503050406030204" pitchFamily="18" charset="0"/>
                <a:cs typeface="Times New Roman" panose="02020603050405020304" pitchFamily="18" charset="0"/>
              </a:rPr>
              <a:t>T.INDRANI –VTU24820– 23UECS0902</a:t>
            </a:r>
            <a:endParaRPr lang="en-IN" sz="28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2496800" y="7437797"/>
            <a:ext cx="6914603" cy="2684325"/>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ea typeface="Cambria" panose="02040503050406030204" pitchFamily="18" charset="0"/>
                <a:cs typeface="Times New Roman" panose="02020603050405020304" pitchFamily="18" charset="0"/>
              </a:rPr>
              <a:t>Courses Handling Faculty:</a:t>
            </a:r>
          </a:p>
          <a:p>
            <a:pPr>
              <a:lnSpc>
                <a:spcPct val="150000"/>
              </a:lnSpc>
            </a:pPr>
            <a:r>
              <a:rPr lang="en-US" sz="2800">
                <a:latin typeface="Times New Roman" panose="02020603050405020304" pitchFamily="18" charset="0"/>
                <a:ea typeface="Cambria" panose="02040503050406030204" pitchFamily="18" charset="0"/>
                <a:cs typeface="Times New Roman" panose="02020603050405020304" pitchFamily="18" charset="0"/>
              </a:rPr>
              <a:t>Dr.S.Hemamalini-M.E.,PH.D,</a:t>
            </a:r>
          </a:p>
          <a:p>
            <a:pPr>
              <a:lnSpc>
                <a:spcPct val="150000"/>
              </a:lnSpc>
            </a:pPr>
            <a:r>
              <a:rPr lang="en-US" sz="2800">
                <a:latin typeface="Times New Roman" panose="02020603050405020304" pitchFamily="18" charset="0"/>
                <a:ea typeface="Cambria" panose="02040503050406030204" pitchFamily="18" charset="0"/>
                <a:cs typeface="Times New Roman" panose="02020603050405020304" pitchFamily="18" charset="0"/>
              </a:rPr>
              <a:t>          Assistant Professor </a:t>
            </a:r>
            <a:endParaRPr lang="en-IN" sz="2800">
              <a:latin typeface="Times New Roman" panose="02020603050405020304" pitchFamily="18" charset="0"/>
              <a:ea typeface="Cambria" panose="02040503050406030204" pitchFamily="18" charset="0"/>
              <a:cs typeface="Times New Roman" panose="020206030504050203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362200" y="6731712"/>
            <a:ext cx="14743170" cy="579967"/>
          </a:xfrm>
          <a:prstGeom prst="rect">
            <a:avLst/>
          </a:prstGeom>
          <a:noFill/>
        </p:spPr>
        <p:txBody>
          <a:bodyPr wrap="square" rtlCol="0">
            <a:spAutoFit/>
          </a:bodyPr>
          <a:lstStyle/>
          <a:p>
            <a:pPr>
              <a:lnSpc>
                <a:spcPct val="150000"/>
              </a:lnSpc>
            </a:pPr>
            <a:r>
              <a:rPr lang="en-US" sz="2400" b="1">
                <a:latin typeface="Times New Roman" panose="02020603050405020304" pitchFamily="18" charset="0"/>
                <a:ea typeface="Cambria" panose="02040503050406030204" pitchFamily="18" charset="0"/>
                <a:cs typeface="Times New Roman" panose="02020603050405020304" pitchFamily="18" charset="0"/>
              </a:rPr>
              <a:t>SDG: SDG 9-</a:t>
            </a:r>
            <a:r>
              <a:rPr lang="en-IN" sz="2400" b="1">
                <a:latin typeface="Times New Roman" panose="02020603050405020304" pitchFamily="18" charset="0"/>
                <a:cs typeface="Times New Roman" panose="02020603050405020304" pitchFamily="18" charset="0"/>
              </a:rPr>
              <a:t>Industry, Innovation and Infrastructure</a:t>
            </a:r>
            <a:endParaRPr lang="en-IN" sz="24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504509" y="1466182"/>
            <a:ext cx="15082325" cy="12649617"/>
          </a:xfrm>
          <a:prstGeom prst="rect">
            <a:avLst/>
          </a:prstGeom>
          <a:noFill/>
        </p:spPr>
        <p:txBody>
          <a:bodyPr wrap="square" rtlCol="0">
            <a:spAutoFit/>
          </a:bodyPr>
          <a:lstStyle/>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Campus Ticket Booking System for managing university events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Online platform for event discovery and ticket reservations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Enables students and staff to book tickets anywhere, anytime</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Simplifies event registration for organizers and attendees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Eliminates paper-based ticketing and manual queues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Supports multiple event types like workshops, seminars, and cultural programs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Provides a central portal for campus event information</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Improves communication between organizers and participants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Enhances user experience with convenient booking workflows ,Reduces administrative workload and improves process reliability</a:t>
            </a:r>
          </a:p>
          <a:p>
            <a:endParaRPr lang="en-US" sz="2400">
              <a:latin typeface="Times New Roman" panose="02020603050405020304" pitchFamily="18" charset="0"/>
              <a:cs typeface="Times New Roman" panose="02020603050405020304" pitchFamily="18" charset="0"/>
            </a:endParaRP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496318" y="1982349"/>
            <a:ext cx="15082325" cy="11541621"/>
          </a:xfrm>
          <a:prstGeom prst="rect">
            <a:avLst/>
          </a:prstGeom>
          <a:noFill/>
        </p:spPr>
        <p:txBody>
          <a:bodyPr wrap="square" rtlCol="0">
            <a:spAutoFit/>
          </a:bodyPr>
          <a:lstStyle/>
          <a:p>
            <a:r>
              <a:rPr lang="en-US" sz="2400">
                <a:latin typeface="Times New Roman" panose="02020603050405020304" pitchFamily="18" charset="0"/>
                <a:cs typeface="Times New Roman" panose="02020603050405020304" pitchFamily="18" charset="0"/>
              </a:rPr>
              <a:t>Campus event ticketing is often manual and time-consuming</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Paper forms, emails, and in-person registration cause delays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Booking data is hard to track and easily lost</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Overbooking and inaccurate capacity control are common</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Attendees lack real-time booking status and confirmations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Organizers cannot easily monitor ticket sales, Manual reconciliation of bookings is error-prone</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Resource allocation and event planning suffer from poor data</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Students face inconvenience when registering for events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The current system is inefficient and lacks automation</a:t>
            </a:r>
          </a:p>
          <a:p>
            <a:endParaRPr lang="en-US" sz="24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667000" y="2245318"/>
            <a:ext cx="15082325" cy="5632311"/>
          </a:xfrm>
          <a:prstGeom prst="rect">
            <a:avLst/>
          </a:prstGeom>
          <a:noFill/>
        </p:spPr>
        <p:txBody>
          <a:bodyPr wrap="square" rtlCol="0">
            <a:spAutoFit/>
          </a:bodyPr>
          <a:lstStyle/>
          <a:p>
            <a:r>
              <a:rPr lang="en-US" sz="2400">
                <a:latin typeface="Times New Roman" panose="02020603050405020304" pitchFamily="18" charset="0"/>
                <a:cs typeface="Times New Roman" panose="02020603050405020304" pitchFamily="18" charset="0"/>
              </a:rPr>
              <a:t>Provide a user-friendly online ticket booking experience</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Automate event registration and ticket issuance, Maintain accurate records of users, events, and bookings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Enable real-time status of ticket availability, Reduce administrative effort and paper usage</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Ensure secure user authentication and data safety</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Track event attendance and booking history</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Improve organizer visibility into event metrics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Support faster response to booking changes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Build a scalable system for future campus events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508608" y="2245318"/>
            <a:ext cx="15082325" cy="10064294"/>
          </a:xfrm>
          <a:prstGeom prst="rect">
            <a:avLst/>
          </a:prstGeom>
          <a:noFill/>
        </p:spPr>
        <p:txBody>
          <a:bodyPr wrap="square" rtlCol="0">
            <a:spAutoFit/>
          </a:bodyPr>
          <a:lstStyle/>
          <a:p>
            <a:r>
              <a:rPr lang="en-US" sz="2400">
                <a:latin typeface="Times New Roman" panose="02020603050405020304" pitchFamily="18" charset="0"/>
                <a:cs typeface="Times New Roman" panose="02020603050405020304" pitchFamily="18" charset="0"/>
              </a:rPr>
              <a:t>Web-based application with separate frontend and backend</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Responsive UI for browsing events and booking tickets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Backend REST API for user, event, and ticket operations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Database storage for users, events, tickets, and bookings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Reporting tools for sales, attendance, and analytics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Authentication and session handling for secure access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Centralized management of event inventory,Automated confirmation and ticket status updates</a:t>
            </a:r>
          </a:p>
          <a:p>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Dashboard for organizers to manage events and capacity,Scalable architecture suitable for campus deployment</a:t>
            </a:r>
          </a:p>
          <a:p>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AutoShape 6" descr="Generated image: Event booking platform architecture diagram">
            <a:extLst>
              <a:ext uri="{FF2B5EF4-FFF2-40B4-BE49-F238E27FC236}">
                <a16:creationId xmlns:a16="http://schemas.microsoft.com/office/drawing/2014/main" id="{49330CF7-21B2-ED9A-2FB0-01753861A49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2" name="Picture 31">
            <a:extLst>
              <a:ext uri="{FF2B5EF4-FFF2-40B4-BE49-F238E27FC236}">
                <a16:creationId xmlns:a16="http://schemas.microsoft.com/office/drawing/2014/main" id="{A3CE834D-3BAC-C1A6-7FAA-5809D30731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8527" y="1375831"/>
            <a:ext cx="12975745" cy="692626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CE171848-864A-B7FB-8FFD-3582850CEA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1485900"/>
            <a:ext cx="8839200" cy="7315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497126" y="1485900"/>
            <a:ext cx="15082325" cy="10187404"/>
          </a:xfrm>
          <a:prstGeom prst="rect">
            <a:avLst/>
          </a:prstGeom>
          <a:noFill/>
        </p:spPr>
        <p:txBody>
          <a:bodyPr wrap="square" rtlCol="0">
            <a:spAutoFit/>
          </a:bodyPr>
          <a:lstStyle/>
          <a:p>
            <a:endParaRPr lang="en-US" sz="2800" dirty="0"/>
          </a:p>
          <a:p>
            <a:r>
              <a:rPr lang="en-IN" sz="2400" b="1">
                <a:latin typeface="Times New Roman" panose="02020603050405020304" pitchFamily="18" charset="0"/>
                <a:cs typeface="Times New Roman" panose="02020603050405020304" pitchFamily="18" charset="0"/>
              </a:rPr>
              <a:t>Backend:</a:t>
            </a:r>
            <a:r>
              <a:rPr lang="en-IN" sz="2400">
                <a:latin typeface="Times New Roman" panose="02020603050405020304" pitchFamily="18" charset="0"/>
                <a:cs typeface="Times New Roman" panose="02020603050405020304" pitchFamily="18" charset="0"/>
              </a:rPr>
              <a:t> Node.js and Express.js</a:t>
            </a:r>
          </a:p>
          <a:p>
            <a:endParaRPr lang="en-IN" sz="2400">
              <a:latin typeface="Times New Roman" panose="02020603050405020304" pitchFamily="18" charset="0"/>
              <a:cs typeface="Times New Roman" panose="02020603050405020304" pitchFamily="18" charset="0"/>
            </a:endParaRPr>
          </a:p>
          <a:p>
            <a:r>
              <a:rPr lang="en-IN" sz="2400" b="1">
                <a:latin typeface="Times New Roman" panose="02020603050405020304" pitchFamily="18" charset="0"/>
                <a:cs typeface="Times New Roman" panose="02020603050405020304" pitchFamily="18" charset="0"/>
              </a:rPr>
              <a:t>Frontend: </a:t>
            </a:r>
            <a:r>
              <a:rPr lang="en-IN" sz="2400">
                <a:latin typeface="Times New Roman" panose="02020603050405020304" pitchFamily="18" charset="0"/>
                <a:cs typeface="Times New Roman" panose="02020603050405020304" pitchFamily="18" charset="0"/>
              </a:rPr>
              <a:t>React.js with Vite</a:t>
            </a:r>
          </a:p>
          <a:p>
            <a:endParaRPr lang="en-IN" sz="2400">
              <a:latin typeface="Times New Roman" panose="02020603050405020304" pitchFamily="18" charset="0"/>
              <a:cs typeface="Times New Roman" panose="02020603050405020304" pitchFamily="18" charset="0"/>
            </a:endParaRPr>
          </a:p>
          <a:p>
            <a:r>
              <a:rPr lang="en-IN" sz="2400" b="1">
                <a:latin typeface="Times New Roman" panose="02020603050405020304" pitchFamily="18" charset="0"/>
                <a:cs typeface="Times New Roman" panose="02020603050405020304" pitchFamily="18" charset="0"/>
              </a:rPr>
              <a:t>Database: </a:t>
            </a:r>
            <a:r>
              <a:rPr lang="en-IN" sz="2400">
                <a:latin typeface="Times New Roman" panose="02020603050405020304" pitchFamily="18" charset="0"/>
                <a:cs typeface="Times New Roman" panose="02020603050405020304" pitchFamily="18" charset="0"/>
              </a:rPr>
              <a:t>MySQL or another relational database</a:t>
            </a:r>
          </a:p>
          <a:p>
            <a:endParaRPr lang="en-IN" sz="2400">
              <a:latin typeface="Times New Roman" panose="02020603050405020304" pitchFamily="18" charset="0"/>
              <a:cs typeface="Times New Roman" panose="02020603050405020304" pitchFamily="18" charset="0"/>
            </a:endParaRPr>
          </a:p>
          <a:p>
            <a:r>
              <a:rPr lang="en-IN" sz="2400" b="1">
                <a:latin typeface="Times New Roman" panose="02020603050405020304" pitchFamily="18" charset="0"/>
                <a:cs typeface="Times New Roman" panose="02020603050405020304" pitchFamily="18" charset="0"/>
              </a:rPr>
              <a:t>API communication: </a:t>
            </a:r>
            <a:r>
              <a:rPr lang="en-IN" sz="2400">
                <a:latin typeface="Times New Roman" panose="02020603050405020304" pitchFamily="18" charset="0"/>
                <a:cs typeface="Times New Roman" panose="02020603050405020304" pitchFamily="18" charset="0"/>
              </a:rPr>
              <a:t>Axios or Fetch</a:t>
            </a:r>
          </a:p>
          <a:p>
            <a:endParaRPr lang="en-IN" sz="2400">
              <a:latin typeface="Times New Roman" panose="02020603050405020304" pitchFamily="18" charset="0"/>
              <a:cs typeface="Times New Roman" panose="02020603050405020304" pitchFamily="18" charset="0"/>
            </a:endParaRPr>
          </a:p>
          <a:p>
            <a:r>
              <a:rPr lang="en-IN" sz="2400" b="1">
                <a:latin typeface="Times New Roman" panose="02020603050405020304" pitchFamily="18" charset="0"/>
                <a:cs typeface="Times New Roman" panose="02020603050405020304" pitchFamily="18" charset="0"/>
              </a:rPr>
              <a:t>Authentication:</a:t>
            </a:r>
            <a:r>
              <a:rPr lang="en-IN" sz="2400">
                <a:latin typeface="Times New Roman" panose="02020603050405020304" pitchFamily="18" charset="0"/>
                <a:cs typeface="Times New Roman" panose="02020603050405020304" pitchFamily="18" charset="0"/>
              </a:rPr>
              <a:t> JWT or session-based login</a:t>
            </a:r>
          </a:p>
          <a:p>
            <a:endParaRPr lang="en-IN" sz="2400">
              <a:latin typeface="Times New Roman" panose="02020603050405020304" pitchFamily="18" charset="0"/>
              <a:cs typeface="Times New Roman" panose="02020603050405020304" pitchFamily="18" charset="0"/>
            </a:endParaRPr>
          </a:p>
          <a:p>
            <a:r>
              <a:rPr lang="en-IN" sz="2400" b="1">
                <a:latin typeface="Times New Roman" panose="02020603050405020304" pitchFamily="18" charset="0"/>
                <a:cs typeface="Times New Roman" panose="02020603050405020304" pitchFamily="18" charset="0"/>
              </a:rPr>
              <a:t>Styling: </a:t>
            </a:r>
            <a:r>
              <a:rPr lang="en-IN" sz="2400">
                <a:latin typeface="Times New Roman" panose="02020603050405020304" pitchFamily="18" charset="0"/>
                <a:cs typeface="Times New Roman" panose="02020603050405020304" pitchFamily="18" charset="0"/>
              </a:rPr>
              <a:t>CSS, responsive design principles</a:t>
            </a:r>
          </a:p>
          <a:p>
            <a:endParaRPr lang="en-IN" sz="2400">
              <a:latin typeface="Times New Roman" panose="02020603050405020304" pitchFamily="18" charset="0"/>
              <a:cs typeface="Times New Roman" panose="02020603050405020304" pitchFamily="18" charset="0"/>
            </a:endParaRPr>
          </a:p>
          <a:p>
            <a:r>
              <a:rPr lang="en-IN" sz="2400" b="1">
                <a:latin typeface="Times New Roman" panose="02020603050405020304" pitchFamily="18" charset="0"/>
                <a:cs typeface="Times New Roman" panose="02020603050405020304" pitchFamily="18" charset="0"/>
              </a:rPr>
              <a:t>Development tools: </a:t>
            </a:r>
            <a:r>
              <a:rPr lang="en-IN" sz="2400">
                <a:latin typeface="Times New Roman" panose="02020603050405020304" pitchFamily="18" charset="0"/>
                <a:cs typeface="Times New Roman" panose="02020603050405020304" pitchFamily="18" charset="0"/>
              </a:rPr>
              <a:t>npm, modern JavaScript, Git</a:t>
            </a:r>
          </a:p>
          <a:p>
            <a:r>
              <a:rPr lang="en-IN" sz="2400" b="1">
                <a:latin typeface="Times New Roman" panose="02020603050405020304" pitchFamily="18" charset="0"/>
                <a:cs typeface="Times New Roman" panose="02020603050405020304" pitchFamily="18" charset="0"/>
              </a:rPr>
              <a:t>Server runtime: </a:t>
            </a:r>
            <a:r>
              <a:rPr lang="en-IN" sz="2400">
                <a:latin typeface="Times New Roman" panose="02020603050405020304" pitchFamily="18" charset="0"/>
                <a:cs typeface="Times New Roman" panose="02020603050405020304" pitchFamily="18" charset="0"/>
              </a:rPr>
              <a:t>Node, Express middleware</a:t>
            </a:r>
          </a:p>
          <a:p>
            <a:endParaRPr lang="en-IN" sz="2400">
              <a:latin typeface="Times New Roman" panose="02020603050405020304" pitchFamily="18" charset="0"/>
              <a:cs typeface="Times New Roman" panose="02020603050405020304" pitchFamily="18" charset="0"/>
            </a:endParaRPr>
          </a:p>
          <a:p>
            <a:r>
              <a:rPr lang="en-IN" sz="2400" b="1">
                <a:latin typeface="Times New Roman" panose="02020603050405020304" pitchFamily="18" charset="0"/>
                <a:cs typeface="Times New Roman" panose="02020603050405020304" pitchFamily="18" charset="0"/>
              </a:rPr>
              <a:t>Data modeling: </a:t>
            </a:r>
            <a:r>
              <a:rPr lang="en-IN" sz="2400">
                <a:latin typeface="Times New Roman" panose="02020603050405020304" pitchFamily="18" charset="0"/>
                <a:cs typeface="Times New Roman" panose="02020603050405020304" pitchFamily="18" charset="0"/>
              </a:rPr>
              <a:t>relational schema for integrity</a:t>
            </a:r>
          </a:p>
          <a:p>
            <a:r>
              <a:rPr lang="en-IN" sz="2400" b="1">
                <a:latin typeface="Times New Roman" panose="02020603050405020304" pitchFamily="18" charset="0"/>
                <a:cs typeface="Times New Roman" panose="02020603050405020304" pitchFamily="18" charset="0"/>
              </a:rPr>
              <a:t>Deployment: </a:t>
            </a:r>
            <a:r>
              <a:rPr lang="en-IN" sz="2400">
                <a:latin typeface="Times New Roman" panose="02020603050405020304" pitchFamily="18" charset="0"/>
                <a:cs typeface="Times New Roman" panose="02020603050405020304" pitchFamily="18" charset="0"/>
              </a:rPr>
              <a:t>local server or cloud hosting options</a:t>
            </a:r>
          </a:p>
          <a:p>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690447" y="2125464"/>
            <a:ext cx="15082325" cy="7109639"/>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Module 1: User Management</a:t>
            </a:r>
          </a:p>
          <a:p>
            <a:r>
              <a:rPr lang="en-US" sz="2400">
                <a:latin typeface="Times New Roman" panose="02020603050405020304" pitchFamily="18" charset="0"/>
                <a:cs typeface="Times New Roman" panose="02020603050405020304" pitchFamily="18" charset="0"/>
              </a:rPr>
              <a:t>The User Management module handles registration, login, and profile management for campus users.</a:t>
            </a:r>
          </a:p>
          <a:p>
            <a:r>
              <a:rPr lang="en-US" sz="2400">
                <a:latin typeface="Times New Roman" panose="02020603050405020304" pitchFamily="18" charset="0"/>
                <a:cs typeface="Times New Roman" panose="02020603050405020304" pitchFamily="18" charset="0"/>
              </a:rPr>
              <a:t> It securely stores user credentials and maintains booking history for each account. This module also supports </a:t>
            </a:r>
          </a:p>
          <a:p>
            <a:r>
              <a:rPr lang="en-US" sz="2400">
                <a:latin typeface="Times New Roman" panose="02020603050405020304" pitchFamily="18" charset="0"/>
                <a:cs typeface="Times New Roman" panose="02020603050405020304" pitchFamily="18" charset="0"/>
              </a:rPr>
              <a:t>role-based access so students and organizers can use the right features.</a:t>
            </a:r>
          </a:p>
          <a:p>
            <a:r>
              <a:rPr lang="en-IN" sz="2400" b="1">
                <a:latin typeface="Times New Roman" panose="02020603050405020304" pitchFamily="18" charset="0"/>
                <a:cs typeface="Times New Roman" panose="02020603050405020304" pitchFamily="18" charset="0"/>
              </a:rPr>
              <a:t>Module 2: Core Processing</a:t>
            </a:r>
          </a:p>
          <a:p>
            <a:r>
              <a:rPr lang="en-US" sz="2400">
                <a:latin typeface="Times New Roman" panose="02020603050405020304" pitchFamily="18" charset="0"/>
                <a:cs typeface="Times New Roman" panose="02020603050405020304" pitchFamily="18" charset="0"/>
              </a:rPr>
              <a:t>The Core Processing module manages event listing, ticket booking, and availability checks in real time. </a:t>
            </a:r>
          </a:p>
          <a:p>
            <a:r>
              <a:rPr lang="en-US" sz="2400">
                <a:latin typeface="Times New Roman" panose="02020603050405020304" pitchFamily="18" charset="0"/>
                <a:cs typeface="Times New Roman" panose="02020603050405020304" pitchFamily="18" charset="0"/>
              </a:rPr>
              <a:t>It validates requests, prevents overbooking, and confirms reservations immediately. This module is the engine </a:t>
            </a:r>
          </a:p>
          <a:p>
            <a:r>
              <a:rPr lang="en-US" sz="2400">
                <a:latin typeface="Times New Roman" panose="02020603050405020304" pitchFamily="18" charset="0"/>
                <a:cs typeface="Times New Roman" panose="02020603050405020304" pitchFamily="18" charset="0"/>
              </a:rPr>
              <a:t>that keeps booking workflows smooth and reliable.</a:t>
            </a:r>
          </a:p>
          <a:p>
            <a:r>
              <a:rPr lang="en-IN" sz="2400" b="1">
                <a:latin typeface="Times New Roman" panose="02020603050405020304" pitchFamily="18" charset="0"/>
                <a:cs typeface="Times New Roman" panose="02020603050405020304" pitchFamily="18" charset="0"/>
              </a:rPr>
              <a:t>Module 3: Database Management</a:t>
            </a:r>
          </a:p>
          <a:p>
            <a:r>
              <a:rPr lang="en-US" sz="2400">
                <a:latin typeface="Times New Roman" panose="02020603050405020304" pitchFamily="18" charset="0"/>
                <a:cs typeface="Times New Roman" panose="02020603050405020304" pitchFamily="18" charset="0"/>
              </a:rPr>
              <a:t>The Database Management module stores all data for users, events, tickets, and bookings in a consistent schema. </a:t>
            </a:r>
          </a:p>
          <a:p>
            <a:r>
              <a:rPr lang="en-US" sz="2400">
                <a:latin typeface="Times New Roman" panose="02020603050405020304" pitchFamily="18" charset="0"/>
                <a:cs typeface="Times New Roman" panose="02020603050405020304" pitchFamily="18" charset="0"/>
              </a:rPr>
              <a:t>It ensures relational integrity and fast retrieval for every system operation. This module also supports ongoing maintenance, backup, and reliable data persistence.</a:t>
            </a:r>
          </a:p>
          <a:p>
            <a:r>
              <a:rPr lang="en-IN" sz="2400" b="1">
                <a:latin typeface="Times New Roman" panose="02020603050405020304" pitchFamily="18" charset="0"/>
                <a:cs typeface="Times New Roman" panose="02020603050405020304" pitchFamily="18" charset="0"/>
              </a:rPr>
              <a:t>Module 4: Reporting &amp; Analytics</a:t>
            </a:r>
          </a:p>
          <a:p>
            <a:r>
              <a:rPr lang="en-US" sz="2400">
                <a:latin typeface="Times New Roman" panose="02020603050405020304" pitchFamily="18" charset="0"/>
                <a:cs typeface="Times New Roman" panose="02020603050405020304" pitchFamily="18" charset="0"/>
              </a:rPr>
              <a:t>The Reporting &amp; Analytics module generates ticket sales summaries, attendance statistics, and event trends. </a:t>
            </a:r>
          </a:p>
          <a:p>
            <a:r>
              <a:rPr lang="en-US" sz="2400">
                <a:latin typeface="Times New Roman" panose="02020603050405020304" pitchFamily="18" charset="0"/>
                <a:cs typeface="Times New Roman" panose="02020603050405020304" pitchFamily="18" charset="0"/>
              </a:rPr>
              <a:t>It helps organizers review performance, identify popular events, and make better planning decisions. This module converts system data into actionable insights for campus administration.</a:t>
            </a:r>
            <a:endParaRPr lang="en-IN" sz="2400" b="1">
              <a:latin typeface="Times New Roman" panose="02020603050405020304" pitchFamily="18" charset="0"/>
              <a:cs typeface="Times New Roman" panose="02020603050405020304" pitchFamily="18" charset="0"/>
            </a:endParaRPr>
          </a:p>
          <a:p>
            <a:endParaRPr lang="en-IN" sz="2400" b="1">
              <a:latin typeface="Times New Roman" panose="02020603050405020304" pitchFamily="18" charset="0"/>
              <a:cs typeface="Times New Roman" panose="02020603050405020304" pitchFamily="18" charset="0"/>
            </a:endParaRPr>
          </a:p>
          <a:p>
            <a:endParaRPr lang="en-IN" sz="2400" b="1">
              <a:latin typeface="Times New Roman" panose="02020603050405020304" pitchFamily="18" charset="0"/>
              <a:cs typeface="Times New Roman" panose="02020603050405020304" pitchFamily="18" charset="0"/>
            </a:endParaRPr>
          </a:p>
          <a:p>
            <a:endParaRPr lang="en-IN"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7" y="6814395"/>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9947" y="6093133"/>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18197" y="7693688"/>
            <a:ext cx="627244" cy="927243"/>
            <a:chOff x="-2" y="52970"/>
            <a:chExt cx="812800" cy="1564677"/>
          </a:xfrm>
        </p:grpSpPr>
        <p:sp>
          <p:nvSpPr>
            <p:cNvPr id="32" name="Freeform 32">
              <a:extLst>
                <a:ext uri="{FF2B5EF4-FFF2-40B4-BE49-F238E27FC236}">
                  <a16:creationId xmlns:a16="http://schemas.microsoft.com/office/drawing/2014/main" id="{227C0AD0-E7DC-50B1-90B8-A6B2DA72DDA4}"/>
                </a:ext>
              </a:extLst>
            </p:cNvPr>
            <p:cNvSpPr/>
            <p:nvPr/>
          </p:nvSpPr>
          <p:spPr>
            <a:xfrm>
              <a:off x="-2" y="434909"/>
              <a:ext cx="812800" cy="1182738"/>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a:p>
              <a:r>
                <a:rPr lang="en-IN"/>
                <a:t>9</a:t>
              </a:r>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endParaRPr lang="en-US" sz="1700">
                <a:solidFill>
                  <a:srgbClr val="191919"/>
                </a:solidFill>
                <a:latin typeface="Gotham"/>
                <a:ea typeface="Gotham"/>
                <a:cs typeface="Gotham"/>
                <a:sym typeface="Gotham"/>
              </a:endParaRP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667000" y="1352766"/>
            <a:ext cx="15063348" cy="1261884"/>
          </a:xfrm>
          <a:prstGeom prst="rect">
            <a:avLst/>
          </a:prstGeom>
          <a:noFill/>
        </p:spPr>
        <p:txBody>
          <a:bodyPr wrap="square" rtlCol="0">
            <a:spAutoFit/>
          </a:bodyPr>
          <a:lstStyle/>
          <a:p>
            <a:endParaRPr lang="en-US" sz="2800" dirty="0"/>
          </a:p>
          <a:p>
            <a:r>
              <a:rPr lang="en-IN" sz="2400" b="1">
                <a:latin typeface="Times New Roman" panose="02020603050405020304" pitchFamily="18" charset="0"/>
                <a:cs typeface="Times New Roman" panose="02020603050405020304" pitchFamily="18" charset="0"/>
              </a:rPr>
              <a:t>Home page :</a:t>
            </a:r>
            <a:r>
              <a:rPr lang="en-US" sz="2400">
                <a:latin typeface="Times New Roman" panose="02020603050405020304" pitchFamily="18" charset="0"/>
                <a:cs typeface="Times New Roman" panose="02020603050405020304" pitchFamily="18" charset="0"/>
              </a:rPr>
              <a:t>The home page is a user-friendly dashboard for browsing campus events, checking ticket </a:t>
            </a:r>
          </a:p>
          <a:p>
            <a:r>
              <a:rPr lang="en-US" sz="2400">
                <a:latin typeface="Times New Roman" panose="02020603050405020304" pitchFamily="18" charset="0"/>
                <a:cs typeface="Times New Roman" panose="02020603050405020304" pitchFamily="18" charset="0"/>
              </a:rPr>
              <a:t>availability, and starting the booking process.</a:t>
            </a:r>
            <a:endParaRPr lang="en-IN" sz="24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33B1B0-2CD4-3669-51FA-22CEAA812AD3}"/>
              </a:ext>
            </a:extLst>
          </p:cNvPr>
          <p:cNvPicPr>
            <a:picLocks noChangeAspect="1"/>
          </p:cNvPicPr>
          <p:nvPr/>
        </p:nvPicPr>
        <p:blipFill>
          <a:blip r:embed="rId3"/>
          <a:stretch>
            <a:fillRect/>
          </a:stretch>
        </p:blipFill>
        <p:spPr>
          <a:xfrm>
            <a:off x="3484920" y="2773905"/>
            <a:ext cx="11241960" cy="584890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CE7407C-50CF-D2C9-F8EF-535437221926}"/>
              </a:ext>
            </a:extLst>
          </p:cNvPr>
          <p:cNvPicPr>
            <a:picLocks noChangeAspect="1"/>
          </p:cNvPicPr>
          <p:nvPr/>
        </p:nvPicPr>
        <p:blipFill>
          <a:blip r:embed="rId3"/>
          <a:stretch>
            <a:fillRect/>
          </a:stretch>
        </p:blipFill>
        <p:spPr>
          <a:xfrm>
            <a:off x="3886200" y="3315742"/>
            <a:ext cx="10515600" cy="4796180"/>
          </a:xfrm>
          <a:prstGeom prst="rect">
            <a:avLst/>
          </a:prstGeom>
        </p:spPr>
      </p:pic>
      <p:sp>
        <p:nvSpPr>
          <p:cNvPr id="4" name="TextBox 3">
            <a:extLst>
              <a:ext uri="{FF2B5EF4-FFF2-40B4-BE49-F238E27FC236}">
                <a16:creationId xmlns:a16="http://schemas.microsoft.com/office/drawing/2014/main" id="{787C807F-251A-B5D3-93D9-DA1D0D406763}"/>
              </a:ext>
            </a:extLst>
          </p:cNvPr>
          <p:cNvSpPr txBox="1"/>
          <p:nvPr/>
        </p:nvSpPr>
        <p:spPr>
          <a:xfrm>
            <a:off x="2819399" y="1819332"/>
            <a:ext cx="12366613" cy="1200329"/>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Login page: </a:t>
            </a:r>
            <a:r>
              <a:rPr lang="en-US" sz="2400">
                <a:latin typeface="Times New Roman" panose="02020603050405020304" pitchFamily="18" charset="0"/>
                <a:cs typeface="Times New Roman" panose="02020603050405020304" pitchFamily="18" charset="0"/>
              </a:rPr>
              <a:t>The sign/signup page welcomes users with a secure login form, allowing easy access to campus events and ticket bookings. New users can register quickly to create accounts, view booking history, and manage reservations with protected credentials.</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8F04A009-2FB0-E31B-8BA9-68A3BF92E37E}"/>
              </a:ext>
            </a:extLst>
          </p:cNvPr>
          <p:cNvCxnSpPr/>
          <p:nvPr/>
        </p:nvCxnSpPr>
        <p:spPr>
          <a:xfrm>
            <a:off x="9144000" y="1452746"/>
            <a:ext cx="0" cy="7484123"/>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6240B372-DCBF-8E75-31EE-72FF43880331}"/>
              </a:ext>
            </a:extLst>
          </p:cNvPr>
          <p:cNvSpPr txBox="1"/>
          <p:nvPr/>
        </p:nvSpPr>
        <p:spPr>
          <a:xfrm>
            <a:off x="2082666" y="1947636"/>
            <a:ext cx="3809999" cy="52322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Admin login page</a:t>
            </a:r>
            <a:endParaRPr lang="en-IN" sz="2800">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C2D1FE04-E682-076A-C953-1E7D01D3321C}"/>
              </a:ext>
            </a:extLst>
          </p:cNvPr>
          <p:cNvSpPr txBox="1"/>
          <p:nvPr/>
        </p:nvSpPr>
        <p:spPr>
          <a:xfrm>
            <a:off x="10337937" y="1947636"/>
            <a:ext cx="4114798" cy="52322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User login page</a:t>
            </a:r>
            <a:endParaRPr lang="en-IN" sz="2800">
              <a:latin typeface="Times New Roman" panose="02020603050405020304" pitchFamily="18" charset="0"/>
              <a:cs typeface="Times New Roman" panose="02020603050405020304" pitchFamily="18" charset="0"/>
            </a:endParaRPr>
          </a:p>
        </p:txBody>
      </p:sp>
      <p:pic>
        <p:nvPicPr>
          <p:cNvPr id="42" name="Picture 41">
            <a:extLst>
              <a:ext uri="{FF2B5EF4-FFF2-40B4-BE49-F238E27FC236}">
                <a16:creationId xmlns:a16="http://schemas.microsoft.com/office/drawing/2014/main" id="{633B6B2B-B48D-EF46-D79C-427DB26C8553}"/>
              </a:ext>
            </a:extLst>
          </p:cNvPr>
          <p:cNvPicPr>
            <a:picLocks noChangeAspect="1"/>
          </p:cNvPicPr>
          <p:nvPr/>
        </p:nvPicPr>
        <p:blipFill>
          <a:blip r:embed="rId3"/>
          <a:stretch>
            <a:fillRect/>
          </a:stretch>
        </p:blipFill>
        <p:spPr>
          <a:xfrm>
            <a:off x="2133600" y="2857501"/>
            <a:ext cx="5418290" cy="5175248"/>
          </a:xfrm>
          <a:prstGeom prst="rect">
            <a:avLst/>
          </a:prstGeom>
        </p:spPr>
      </p:pic>
      <p:pic>
        <p:nvPicPr>
          <p:cNvPr id="45" name="Picture 44">
            <a:extLst>
              <a:ext uri="{FF2B5EF4-FFF2-40B4-BE49-F238E27FC236}">
                <a16:creationId xmlns:a16="http://schemas.microsoft.com/office/drawing/2014/main" id="{2E44986B-A488-82B7-637B-34AB1765C6C4}"/>
              </a:ext>
            </a:extLst>
          </p:cNvPr>
          <p:cNvPicPr>
            <a:picLocks noChangeAspect="1"/>
          </p:cNvPicPr>
          <p:nvPr/>
        </p:nvPicPr>
        <p:blipFill>
          <a:blip r:embed="rId4"/>
          <a:stretch>
            <a:fillRect/>
          </a:stretch>
        </p:blipFill>
        <p:spPr>
          <a:xfrm>
            <a:off x="10532136" y="2857502"/>
            <a:ext cx="5776461" cy="5166314"/>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53AA2B28-D59E-3B22-E977-6B55E85BAA44}"/>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B629B824-7CC5-6950-8831-0D7124F17FAE}"/>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7D68089-7A4F-3C97-AEBD-A865B9DC01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1D23D8C2-987E-678D-734E-C1CF5810735F}"/>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9084E17A-7DE6-9CA7-2B62-ABAF2F18B726}"/>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5562F1FE-598D-AC19-0D7C-816E3FCAAEE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71ACBEDF-CBE5-DC56-B386-901705D1CB9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3C979BFB-9F01-B94C-F4ED-9DF0FD5D94D2}"/>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FF65B412-ABE6-E7BD-3125-12664A5D3DF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8F208E42-1552-9396-2CAE-1FBD942CE6F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B6873D6-B52D-F478-5278-DA9A1FBFF90D}"/>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79CB3435-AD60-FF96-70D0-D436BA52116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10CCCA5-5DE9-C6E7-8594-9CD990D70F1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36D682E1-185A-DF56-3532-4DAB9907EAB2}"/>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79825D8A-680A-EDC5-3C87-BA6C00D8511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212BB665-0749-BBC9-676F-4597EB698CC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E1A6C2C-79F2-509F-B346-C22316D891CB}"/>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18EDFE3-A09D-934F-613C-3CA1BF225AB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099DFD70-7B7C-FAD5-DEA9-E573C780AD1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FC5C1186-DEB2-A3D1-DEB3-0E39A11C88F4}"/>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1BFA3D11-DF4D-5EE2-0F13-34C32B3E100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E3FEFA46-4089-1BF7-6827-487149679B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555735C2-1366-127C-35A4-EDC069C29E11}"/>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0EAD8D86-41AE-9C0E-2D86-C040CA63B45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133B172-A5A1-6D69-D4BC-B89EE15AD8B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21A5D457-B089-783D-ABB4-B7A3C4208319}"/>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64AFA1A-4A1D-34E5-F735-55FEFF53171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546FB8C4-B92E-A6C8-7442-484A8D9A09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DA5EC8F3-2AE2-9D6E-CD6B-F1D3C9C0D056}"/>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F70A4A1-6B67-3F32-01FE-69EA61F9067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415A002D-09A3-947A-4C5F-79F28382A04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D06CE07-B5E5-025D-3307-5A5A7FB2F405}"/>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1ED6362-6778-FEAB-A85B-E1A836624A1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E222515-228A-AA36-F173-1EC2F5442DC8}"/>
              </a:ext>
            </a:extLst>
          </p:cNvPr>
          <p:cNvSpPr txBox="1"/>
          <p:nvPr/>
        </p:nvSpPr>
        <p:spPr>
          <a:xfrm>
            <a:off x="2747195" y="1985253"/>
            <a:ext cx="13392748" cy="1200329"/>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Main module :</a:t>
            </a:r>
            <a:r>
              <a:rPr lang="en-US" sz="2400">
                <a:latin typeface="Times New Roman" panose="02020603050405020304" pitchFamily="18" charset="0"/>
                <a:cs typeface="Times New Roman" panose="02020603050405020304" pitchFamily="18" charset="0"/>
              </a:rPr>
              <a:t>This image shows the Manage Bookings module of the ticket booking system. It displays student booking details such as event name, ticket ID, payment status, and booking confirmation status. The admin or faculty can also confirm, reject, or view booking details through the action controls.</a:t>
            </a:r>
            <a:endParaRPr lang="en-IN" sz="24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BAC7AD7-EC20-A4EA-0A0E-FDACD27B6E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0953" y="3228006"/>
            <a:ext cx="12974861" cy="4725059"/>
          </a:xfrm>
          <a:prstGeom prst="rect">
            <a:avLst/>
          </a:prstGeom>
        </p:spPr>
      </p:pic>
    </p:spTree>
    <p:extLst>
      <p:ext uri="{BB962C8B-B14F-4D97-AF65-F5344CB8AC3E}">
        <p14:creationId xmlns:p14="http://schemas.microsoft.com/office/powerpoint/2010/main" val="3643096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E8A1ED29-7015-C03F-ABED-8D141D9E87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201" y="3140934"/>
            <a:ext cx="6858000" cy="5140525"/>
          </a:xfrm>
          <a:prstGeom prst="rect">
            <a:avLst/>
          </a:prstGeom>
        </p:spPr>
      </p:pic>
      <p:sp>
        <p:nvSpPr>
          <p:cNvPr id="38" name="TextBox 37">
            <a:extLst>
              <a:ext uri="{FF2B5EF4-FFF2-40B4-BE49-F238E27FC236}">
                <a16:creationId xmlns:a16="http://schemas.microsoft.com/office/drawing/2014/main" id="{572D9010-724B-112C-EFDD-23D2A3778062}"/>
              </a:ext>
            </a:extLst>
          </p:cNvPr>
          <p:cNvSpPr txBox="1"/>
          <p:nvPr/>
        </p:nvSpPr>
        <p:spPr>
          <a:xfrm>
            <a:off x="2857500" y="2009613"/>
            <a:ext cx="12573000" cy="1200329"/>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Output page : </a:t>
            </a:r>
            <a:r>
              <a:rPr lang="en-US" sz="2400">
                <a:latin typeface="Times New Roman" panose="02020603050405020304" pitchFamily="18" charset="0"/>
                <a:cs typeface="Times New Roman" panose="02020603050405020304" pitchFamily="18" charset="0"/>
              </a:rPr>
              <a:t>The booking confirmation page displays a success message with ticket details, including event name, date, and seat number. Users receive an email receipt and can view their booking history for easy reference and management.</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8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22FAD88E-92D4-D70F-5818-2F6EB9E972B1}"/>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5CAD6483-2139-A79D-DD86-468F4C57EE0C}"/>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5C4F19C4-35D0-272D-E2AE-894D25B4CC2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AAB541B2-9E82-6309-B3CC-53913E3A64DB}"/>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CC6CCB3C-A4E0-6EDA-9505-0D9AB5C2C39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7A7A4754-78B1-E78E-CA7A-4033114503F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13281B73-0160-01BA-B029-59E4C1BD654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C6A7D7D6-203C-6376-B88A-FF70572D989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3C90023C-3360-39AF-69AB-18816D9E332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08480FE1-FC4D-0897-679D-3A7FF0498A0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EA08DCD3-516E-C90A-F05A-AF77B34F503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69A05989-B075-212E-8BAB-0E4E34A373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DAC324BC-1B35-EDD5-AC5C-93CDA53D5F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DD2C129-2E86-D0EF-313D-870ACD99F0BD}"/>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F76B238-B858-60E7-2D29-0345DAEF0BF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40A759D2-87DB-E28F-0F8C-4039EE78792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75648F2A-AC71-BEA3-B323-7EF6A4AF9B95}"/>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7EC74498-C46A-B354-C021-3A95742E1F2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E96528FD-15ED-84FC-E101-F38EBC381B7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1475D90-BC3C-6739-6E0B-9FD088AC63F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D2B61A6D-9DA5-DB65-D4C5-5E8DAD0D1FC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8225364D-4F46-AC72-7A65-969EC4C1F93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71FC9919-48E3-8313-1EE9-58C00D49DE3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0C28432E-F995-2F23-ED1A-01AB7A32A74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70FDE77-4C0A-19C2-BC29-FC931C324DD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6011339C-930C-A9E1-C411-054A680189F6}"/>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C39E41B7-238E-3771-7C03-08647FC694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E725A1C7-2DB4-B843-7B98-A743AABCD28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BDC74B37-973E-D783-097E-2820E0B4716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011C75A8-6722-7DE6-0D0D-9EC62582A19B}"/>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1EEA6AA4-0636-4103-643E-E85BD26089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79318354-8831-F2F0-7804-CB08FBFCC2AC}"/>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8B638E53-FDF2-5004-A34F-286FE706AFF5}"/>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79C88FAC-A685-038F-C44F-39D190C52067}"/>
              </a:ext>
            </a:extLst>
          </p:cNvPr>
          <p:cNvSpPr txBox="1"/>
          <p:nvPr/>
        </p:nvSpPr>
        <p:spPr>
          <a:xfrm>
            <a:off x="2345134" y="1925989"/>
            <a:ext cx="12573000" cy="1200329"/>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Data Base:</a:t>
            </a:r>
            <a:r>
              <a:rPr lang="en-US" sz="2400">
                <a:latin typeface="Times New Roman" panose="02020603050405020304" pitchFamily="18" charset="0"/>
                <a:cs typeface="Times New Roman" panose="02020603050405020304" pitchFamily="18" charset="0"/>
              </a:rPr>
              <a:t>The project uses a MySQL database to store and manage user details, event information, ticket bookings, and payment records. phpMyAdmin is used for database administration, allowing easy data storage, retrieval, and management for the ticket booking system.</a:t>
            </a:r>
            <a:endParaRPr lang="en-IN" sz="24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7556423-C8BE-1485-EA73-1FE7C03B3734}"/>
              </a:ext>
            </a:extLst>
          </p:cNvPr>
          <p:cNvPicPr>
            <a:picLocks noChangeAspect="1"/>
          </p:cNvPicPr>
          <p:nvPr/>
        </p:nvPicPr>
        <p:blipFill>
          <a:blip r:embed="rId3"/>
          <a:stretch>
            <a:fillRect/>
          </a:stretch>
        </p:blipFill>
        <p:spPr>
          <a:xfrm>
            <a:off x="1821094" y="3381704"/>
            <a:ext cx="14273497" cy="4922947"/>
          </a:xfrm>
          <a:prstGeom prst="rect">
            <a:avLst/>
          </a:prstGeom>
        </p:spPr>
      </p:pic>
    </p:spTree>
    <p:extLst>
      <p:ext uri="{BB962C8B-B14F-4D97-AF65-F5344CB8AC3E}">
        <p14:creationId xmlns:p14="http://schemas.microsoft.com/office/powerpoint/2010/main" val="1489046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0ADDB98-65D5-4C19-4F42-194DD05F6E4A}"/>
              </a:ext>
            </a:extLst>
          </p:cNvPr>
          <p:cNvSpPr txBox="1"/>
          <p:nvPr/>
        </p:nvSpPr>
        <p:spPr>
          <a:xfrm>
            <a:off x="3000219" y="2003377"/>
            <a:ext cx="14045782" cy="6370975"/>
          </a:xfrm>
          <a:prstGeom prst="rect">
            <a:avLst/>
          </a:prstGeom>
          <a:noFill/>
        </p:spPr>
        <p:txBody>
          <a:bodyPr wrap="square">
            <a:spAutoFit/>
          </a:bodyPr>
          <a:lstStyle/>
          <a:p>
            <a:r>
              <a:rPr lang="en-US" sz="2400" b="1">
                <a:latin typeface="Times New Roman" panose="02020603050405020304" pitchFamily="18" charset="0"/>
                <a:cs typeface="Times New Roman" panose="02020603050405020304" pitchFamily="18" charset="0"/>
              </a:rPr>
              <a:t>Advantages :</a:t>
            </a:r>
          </a:p>
          <a:p>
            <a:r>
              <a:rPr lang="en-US" sz="2400">
                <a:latin typeface="Times New Roman" panose="02020603050405020304" pitchFamily="18" charset="0"/>
                <a:cs typeface="Times New Roman" panose="02020603050405020304" pitchFamily="18" charset="0"/>
              </a:rPr>
              <a:t>Streamlines event registration with online booking, reducing manual effort.</a:t>
            </a:r>
          </a:p>
          <a:p>
            <a:r>
              <a:rPr lang="en-US" sz="2400">
                <a:latin typeface="Times New Roman" panose="02020603050405020304" pitchFamily="18" charset="0"/>
                <a:cs typeface="Times New Roman" panose="02020603050405020304" pitchFamily="18" charset="0"/>
              </a:rPr>
              <a:t>Provides real-time ticket availability, preventing overbooking.</a:t>
            </a:r>
          </a:p>
          <a:p>
            <a:r>
              <a:rPr lang="en-US" sz="2400">
                <a:latin typeface="Times New Roman" panose="02020603050405020304" pitchFamily="18" charset="0"/>
                <a:cs typeface="Times New Roman" panose="02020603050405020304" pitchFamily="18" charset="0"/>
              </a:rPr>
              <a:t>Enhances user experience with a responsive, easy-to-navigate interface.</a:t>
            </a:r>
          </a:p>
          <a:p>
            <a:r>
              <a:rPr lang="en-US" sz="2400">
                <a:latin typeface="Times New Roman" panose="02020603050405020304" pitchFamily="18" charset="0"/>
                <a:cs typeface="Times New Roman" panose="02020603050405020304" pitchFamily="18" charset="0"/>
              </a:rPr>
              <a:t>Maintains secure user data and authentication for privacy.</a:t>
            </a:r>
          </a:p>
          <a:p>
            <a:r>
              <a:rPr lang="en-US" sz="2400">
                <a:latin typeface="Times New Roman" panose="02020603050405020304" pitchFamily="18" charset="0"/>
                <a:cs typeface="Times New Roman" panose="02020603050405020304" pitchFamily="18" charset="0"/>
              </a:rPr>
              <a:t>Offers booking history and confirmations for better user tracking.</a:t>
            </a:r>
          </a:p>
          <a:p>
            <a:r>
              <a:rPr lang="en-US" sz="2400">
                <a:latin typeface="Times New Roman" panose="02020603050405020304" pitchFamily="18" charset="0"/>
                <a:cs typeface="Times New Roman" panose="02020603050405020304" pitchFamily="18" charset="0"/>
              </a:rPr>
              <a:t>Enables organizers to monitor sales and attendance instantly.</a:t>
            </a:r>
          </a:p>
          <a:p>
            <a:endParaRPr lang="en-US" sz="2400" b="1">
              <a:latin typeface="Times New Roman" panose="02020603050405020304" pitchFamily="18" charset="0"/>
              <a:cs typeface="Times New Roman" panose="02020603050405020304" pitchFamily="18" charset="0"/>
            </a:endParaRPr>
          </a:p>
          <a:p>
            <a:r>
              <a:rPr lang="en-IN" sz="2400" b="1">
                <a:latin typeface="Times New Roman" panose="02020603050405020304" pitchFamily="18" charset="0"/>
                <a:cs typeface="Times New Roman" panose="02020603050405020304" pitchFamily="18" charset="0"/>
              </a:rPr>
              <a:t>Limitations :</a:t>
            </a:r>
          </a:p>
          <a:p>
            <a:r>
              <a:rPr lang="en-US" sz="2400">
                <a:latin typeface="Times New Roman" panose="02020603050405020304" pitchFamily="18" charset="0"/>
                <a:cs typeface="Times New Roman" panose="02020603050405020304" pitchFamily="18" charset="0"/>
              </a:rPr>
              <a:t>Requires internet access for booking, limiting offline users.</a:t>
            </a:r>
          </a:p>
          <a:p>
            <a:r>
              <a:rPr lang="en-US" sz="2400">
                <a:latin typeface="Times New Roman" panose="02020603050405020304" pitchFamily="18" charset="0"/>
                <a:cs typeface="Times New Roman" panose="02020603050405020304" pitchFamily="18" charset="0"/>
              </a:rPr>
              <a:t>Dependent on database reliability for data integrity.</a:t>
            </a:r>
          </a:p>
          <a:p>
            <a:r>
              <a:rPr lang="en-US" sz="2400">
                <a:latin typeface="Times New Roman" panose="02020603050405020304" pitchFamily="18" charset="0"/>
                <a:cs typeface="Times New Roman" panose="02020603050405020304" pitchFamily="18" charset="0"/>
              </a:rPr>
              <a:t>Potential security risks if authentication is compromised.</a:t>
            </a:r>
          </a:p>
          <a:p>
            <a:r>
              <a:rPr lang="en-US" sz="2400">
                <a:latin typeface="Times New Roman" panose="02020603050405020304" pitchFamily="18" charset="0"/>
                <a:cs typeface="Times New Roman" panose="02020603050405020304" pitchFamily="18" charset="0"/>
              </a:rPr>
              <a:t>May face scalability issues with very large user bases.</a:t>
            </a:r>
          </a:p>
          <a:p>
            <a:r>
              <a:rPr lang="en-US" sz="2400">
                <a:latin typeface="Times New Roman" panose="02020603050405020304" pitchFamily="18" charset="0"/>
                <a:cs typeface="Times New Roman" panose="02020603050405020304" pitchFamily="18" charset="0"/>
              </a:rPr>
              <a:t>Limited to campus events, not suitable for external bookings.</a:t>
            </a:r>
          </a:p>
          <a:p>
            <a:r>
              <a:rPr lang="en-US" sz="2400">
                <a:latin typeface="Times New Roman" panose="02020603050405020304" pitchFamily="18" charset="0"/>
                <a:cs typeface="Times New Roman" panose="02020603050405020304" pitchFamily="18" charset="0"/>
              </a:rPr>
              <a:t>Initial setup and training needed for organizers.</a:t>
            </a:r>
          </a:p>
          <a:p>
            <a:r>
              <a:rPr lang="en-US" sz="2400">
                <a:latin typeface="Times New Roman" panose="02020603050405020304" pitchFamily="18" charset="0"/>
                <a:cs typeface="Times New Roman" panose="02020603050405020304" pitchFamily="18" charset="0"/>
              </a:rPr>
              <a:t>Frontend performance could lag with high concurrent users.</a:t>
            </a:r>
          </a:p>
          <a:p>
            <a:endParaRPr lang="en-IN"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Times New Roman" panose="02020603050405020304" pitchFamily="18" charset="0"/>
                <a:ea typeface="Gotham Bold Italics"/>
                <a:cs typeface="Times New Roman" panose="02020603050405020304" pitchFamily="18" charset="0"/>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TotalTime>
  <Words>1206</Words>
  <Application>Microsoft Office PowerPoint</Application>
  <PresentationFormat>Custom</PresentationFormat>
  <Paragraphs>333</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Cambria</vt:lpstr>
      <vt:lpstr>Gotham</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Tirumani Indrani</dc:creator>
  <cp:lastModifiedBy>Tirumani Indrani</cp:lastModifiedBy>
  <cp:revision>13</cp:revision>
  <dcterms:created xsi:type="dcterms:W3CDTF">2006-08-16T00:00:00Z</dcterms:created>
  <dcterms:modified xsi:type="dcterms:W3CDTF">2026-05-06T06:13:45Z</dcterms:modified>
  <dc:identifier>DAHCaYqJ9OU</dc:identifier>
</cp:coreProperties>
</file>