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71" r:id="rId7"/>
    <p:sldId id="261" r:id="rId8"/>
    <p:sldId id="262" r:id="rId9"/>
    <p:sldId id="263" r:id="rId10"/>
    <p:sldId id="264" r:id="rId11"/>
    <p:sldId id="266" r:id="rId12"/>
    <p:sldId id="269" r:id="rId13"/>
    <p:sldId id="267" r:id="rId14"/>
    <p:sldId id="268" r:id="rId15"/>
    <p:sldId id="270" r:id="rId16"/>
    <p:sldId id="265" r:id="rId17"/>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64516" autoAdjust="0"/>
  </p:normalViewPr>
  <p:slideViewPr>
    <p:cSldViewPr>
      <p:cViewPr varScale="1">
        <p:scale>
          <a:sx n="54" d="100"/>
          <a:sy n="54" d="100"/>
        </p:scale>
        <p:origin x="754" y="51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cstate="print"/>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10211CD224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24-03-2026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ACADEMICS  CAMPUS  EVENT  AND  REGISTRATION  PORTAL</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a:latin typeface="Cambria" panose="02040503050406030204" pitchFamily="18" charset="0"/>
                <a:ea typeface="Cambria" panose="02040503050406030204" pitchFamily="18" charset="0"/>
              </a:rPr>
              <a:t>T.INDRANI-VTU24820-23UCS0902</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32187"/>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200">
                <a:latin typeface="Cambria" panose="02040503050406030204" pitchFamily="18" charset="0"/>
                <a:ea typeface="Cambria" panose="02040503050406030204" pitchFamily="18" charset="0"/>
              </a:rPr>
              <a:t>Dr.S.Hemamalini</a:t>
            </a:r>
            <a:r>
              <a:rPr lang="en-US" sz="3000">
                <a:latin typeface="Cambria" panose="02040503050406030204" pitchFamily="18" charset="0"/>
                <a:ea typeface="Cambria" panose="02040503050406030204" pitchFamily="18" charset="0"/>
              </a:rPr>
              <a:t>-Assistant professor </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707886"/>
          </a:xfrm>
          <a:prstGeom prst="rect">
            <a:avLst/>
          </a:prstGeom>
          <a:noFill/>
        </p:spPr>
        <p:txBody>
          <a:bodyPr wrap="square" rtlCol="0">
            <a:spAutoFit/>
          </a:bodyPr>
          <a:lstStyle/>
          <a:p>
            <a:r>
              <a:rPr lang="en-US" sz="2000" b="1">
                <a:latin typeface="Times New Roman" panose="02020603050405020304" pitchFamily="18" charset="0"/>
                <a:ea typeface="Cambria" panose="02040503050406030204" pitchFamily="18" charset="0"/>
                <a:cs typeface="Times New Roman" panose="02020603050405020304" pitchFamily="18" charset="0"/>
              </a:rPr>
              <a:t>SDG: SDG 9-</a:t>
            </a:r>
            <a:r>
              <a:rPr lang="en-IN" sz="2000" b="1">
                <a:latin typeface="Times New Roman" panose="02020603050405020304" pitchFamily="18" charset="0"/>
                <a:cs typeface="Times New Roman" panose="02020603050405020304" pitchFamily="18" charset="0"/>
              </a:rPr>
              <a:t>Industry, Innovation and Infrastructure</a:t>
            </a:r>
            <a:endParaRPr lang="en-IN" sz="2000" b="1">
              <a:latin typeface="Times New Roman" panose="02020603050405020304" pitchFamily="18" charset="0"/>
              <a:ea typeface="Cambria" panose="02040503050406030204" pitchFamily="18" charset="0"/>
              <a:cs typeface="Times New Roman" panose="02020603050405020304" pitchFamily="18" charset="0"/>
            </a:endParaRPr>
          </a:p>
          <a:p>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357390" y="2214542"/>
            <a:ext cx="15001980" cy="10864513"/>
          </a:xfrm>
          <a:prstGeom prst="rect">
            <a:avLst/>
          </a:prstGeom>
          <a:noFill/>
        </p:spPr>
        <p:txBody>
          <a:bodyPr wrap="square" rtlCol="0">
            <a:spAutoFit/>
          </a:bodyPr>
          <a:lstStyle/>
          <a:p>
            <a:pPr marL="457200" indent="-457200">
              <a:buFont typeface="Arial" pitchFamily="34" charset="0"/>
              <a:buChar char="•"/>
            </a:pPr>
            <a:r>
              <a:rPr lang="en-US" sz="2800" dirty="0"/>
              <a:t>Campus events in colleges are often managed manually, leading to confusion, delays, and miscommunication among students and organizers. </a:t>
            </a:r>
          </a:p>
          <a:p>
            <a:pPr marL="457200" indent="-457200">
              <a:buFont typeface="Arial" pitchFamily="34" charset="0"/>
              <a:buChar char="•"/>
            </a:pPr>
            <a:r>
              <a:rPr lang="en-US" sz="2800" dirty="0"/>
              <a:t>This project aims to develop a Campus Event and Registration Portal to simplify event management and participation.</a:t>
            </a:r>
          </a:p>
          <a:p>
            <a:pPr marL="457200" indent="-457200">
              <a:buFont typeface="Arial" pitchFamily="34" charset="0"/>
              <a:buChar char="•"/>
            </a:pPr>
            <a:r>
              <a:rPr lang="en-US" sz="2800" dirty="0"/>
              <a:t> It is important because it reduces paperwork, ensures efficient coordination, and provides a centralized platform for all event-related activities.</a:t>
            </a:r>
          </a:p>
          <a:p>
            <a:pPr marL="457200" indent="-457200">
              <a:buFont typeface="Arial" pitchFamily="34" charset="0"/>
              <a:buChar char="•"/>
            </a:pPr>
            <a:r>
              <a:rPr lang="en-US" sz="2800" dirty="0"/>
              <a:t> The system has real-world relevance as many institutions require digital solutions for managing events smoothly and transparently. </a:t>
            </a:r>
          </a:p>
          <a:p>
            <a:pPr marL="457200" indent="-457200">
              <a:buFont typeface="Arial" pitchFamily="34" charset="0"/>
              <a:buChar char="•"/>
            </a:pPr>
            <a:r>
              <a:rPr lang="en-US" sz="2800" dirty="0"/>
              <a:t>The portal allows users to view upcoming events, register online, and receive updates instantly. </a:t>
            </a:r>
          </a:p>
          <a:p>
            <a:pPr marL="457200" indent="-457200">
              <a:buFont typeface="Arial" pitchFamily="34" charset="0"/>
              <a:buChar char="•"/>
            </a:pPr>
            <a:r>
              <a:rPr lang="en-US" sz="2800" dirty="0"/>
              <a:t>Organizers can create, manage, and track event registrations .</a:t>
            </a:r>
          </a:p>
          <a:p>
            <a:pPr marL="457200" indent="-457200">
              <a:buFont typeface="Arial" pitchFamily="34" charset="0"/>
              <a:buChar char="•"/>
            </a:pPr>
            <a:r>
              <a:rPr lang="en-US" sz="2800" dirty="0"/>
              <a:t>Overall, the system improves accessibility, saves time, and enhances the overall event experience for both students and administrators.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714580" y="2143104"/>
            <a:ext cx="14082193" cy="10002738"/>
          </a:xfrm>
          <a:prstGeom prst="rect">
            <a:avLst/>
          </a:prstGeom>
          <a:noFill/>
        </p:spPr>
        <p:txBody>
          <a:bodyPr wrap="square" rtlCol="0">
            <a:spAutoFit/>
          </a:bodyPr>
          <a:lstStyle/>
          <a:p>
            <a:r>
              <a:rPr lang="en-US" sz="2800" dirty="0"/>
              <a:t>In many colleges, event management and registration are handled manually or through scattered platforms, leading to inefficiency and confusion. Students often miss important event updates due to lack of a centralized system. Organizers face difficulties in managing registrations, tracking participants, and handling data accurately. Manual processes increase the chances of errors, duplication, and delays. There is no streamlined way to communicate event details and updates in real time. This creates inconvenience for both students and administrators. Therefore, there is a need for a centralized, automated Campus Event and Registration Portal. The system should simplify event management, ensure accurate data handling, and improve overall efficiency.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071638" y="2000228"/>
            <a:ext cx="15082325" cy="9140964"/>
          </a:xfrm>
          <a:prstGeom prst="rect">
            <a:avLst/>
          </a:prstGeom>
          <a:noFill/>
        </p:spPr>
        <p:txBody>
          <a:bodyPr wrap="square" rtlCol="0">
            <a:spAutoFit/>
          </a:bodyPr>
          <a:lstStyle/>
          <a:p>
            <a:pPr marL="457200" indent="-457200">
              <a:buFont typeface="Arial" pitchFamily="34" charset="0"/>
              <a:buChar char="•"/>
            </a:pPr>
            <a:r>
              <a:rPr lang="en-US" sz="2800" dirty="0"/>
              <a:t>To design and develop a centralized Campus Event and Registration Portal for managing events and student registrations efficiently. </a:t>
            </a:r>
          </a:p>
          <a:p>
            <a:pPr marL="457200" indent="-457200">
              <a:buFont typeface="Arial" pitchFamily="34" charset="0"/>
              <a:buChar char="•"/>
            </a:pPr>
            <a:r>
              <a:rPr lang="en-US" sz="2800" dirty="0"/>
              <a:t>To implement an automated system that improves data accuracy, real-time updates, and overall event management performance.</a:t>
            </a:r>
          </a:p>
          <a:p>
            <a:pPr marL="457200" indent="-457200">
              <a:buFont typeface="Arial" pitchFamily="34" charset="0"/>
              <a:buChar char="•"/>
            </a:pPr>
            <a:r>
              <a:rPr lang="en-US" sz="2800" dirty="0"/>
              <a:t>To design and develop a centralized Campus Event and Registration Portal .</a:t>
            </a:r>
          </a:p>
          <a:p>
            <a:pPr marL="457200" indent="-457200">
              <a:buFont typeface="Arial" pitchFamily="34" charset="0"/>
              <a:buChar char="•"/>
            </a:pPr>
            <a:r>
              <a:rPr lang="en-US" sz="2800" dirty="0"/>
              <a:t>To implement secure user authentication for students and organizers.</a:t>
            </a:r>
          </a:p>
          <a:p>
            <a:pPr marL="457200" indent="-457200">
              <a:buFont typeface="Arial" pitchFamily="34" charset="0"/>
              <a:buChar char="•"/>
            </a:pPr>
            <a:r>
              <a:rPr lang="en-US" sz="2800" dirty="0"/>
              <a:t> To enable easy event creation, updating, and deletion.</a:t>
            </a:r>
          </a:p>
          <a:p>
            <a:pPr marL="457200" indent="-457200">
              <a:buFont typeface="Arial" pitchFamily="34" charset="0"/>
              <a:buChar char="•"/>
            </a:pPr>
            <a:r>
              <a:rPr lang="en-US" sz="2800" dirty="0"/>
              <a:t> To provide an online registration system for students .</a:t>
            </a:r>
          </a:p>
          <a:p>
            <a:pPr marL="457200" indent="-457200">
              <a:buFont typeface="Arial" pitchFamily="34" charset="0"/>
              <a:buChar char="•"/>
            </a:pPr>
            <a:r>
              <a:rPr lang="en-US" sz="2800" dirty="0"/>
              <a:t> To ensure real-time notifications and updates for users.</a:t>
            </a:r>
          </a:p>
          <a:p>
            <a:pPr marL="457200" indent="-457200">
              <a:buFont typeface="Arial" pitchFamily="34" charset="0"/>
              <a:buChar char="•"/>
            </a:pPr>
            <a:r>
              <a:rPr lang="en-US" sz="2800" dirty="0"/>
              <a:t> To maintain accurate and secure data storage in the database.</a:t>
            </a:r>
          </a:p>
          <a:p>
            <a:pPr marL="457200" indent="-457200">
              <a:buFont typeface="Arial" pitchFamily="34" charset="0"/>
              <a:buChar char="•"/>
            </a:pPr>
            <a:r>
              <a:rPr lang="en-US" sz="2800" dirty="0"/>
              <a:t> To reduce manual work and improve operational efficiency.</a:t>
            </a:r>
          </a:p>
          <a:p>
            <a:pPr marL="457200" indent="-457200">
              <a:buFont typeface="Arial" pitchFamily="34" charset="0"/>
              <a:buChar char="•"/>
            </a:pPr>
            <a:r>
              <a:rPr lang="en-US" sz="2800" dirty="0"/>
              <a:t> To allow organizers to track and manage participants effectively.</a:t>
            </a:r>
          </a:p>
          <a:p>
            <a:pPr marL="457200" indent="-457200">
              <a:buFont typeface="Arial" pitchFamily="34" charset="0"/>
              <a:buChar char="•"/>
            </a:pPr>
            <a:r>
              <a:rPr lang="en-US" sz="2800" dirty="0"/>
              <a:t> To generate reports for analyzing event participation.</a:t>
            </a:r>
          </a:p>
          <a:p>
            <a:pPr marL="457200" indent="-457200">
              <a:buFont typeface="Arial" pitchFamily="34" charset="0"/>
              <a:buChar char="•"/>
            </a:pPr>
            <a:r>
              <a:rPr lang="en-US" sz="2800" dirty="0"/>
              <a:t> To enhance user experience with a simple and user-friendly interface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071638" y="2143104"/>
            <a:ext cx="15577677" cy="9140964"/>
          </a:xfrm>
          <a:prstGeom prst="rect">
            <a:avLst/>
          </a:prstGeom>
          <a:noFill/>
        </p:spPr>
        <p:txBody>
          <a:bodyPr wrap="square" rtlCol="0">
            <a:spAutoFit/>
          </a:bodyPr>
          <a:lstStyle/>
          <a:p>
            <a:pPr>
              <a:buFont typeface="Arial" pitchFamily="34" charset="0"/>
              <a:buChar char="•"/>
            </a:pPr>
            <a:r>
              <a:rPr lang="en-US" sz="2800" dirty="0"/>
              <a:t>  The proposed system is a centralized Campus Event and Registration Portal that manages all event-related activities on a single platform.</a:t>
            </a:r>
          </a:p>
          <a:p>
            <a:pPr>
              <a:buFont typeface="Arial" pitchFamily="34" charset="0"/>
              <a:buChar char="•"/>
            </a:pPr>
            <a:r>
              <a:rPr lang="en-US" sz="2800" dirty="0"/>
              <a:t>   It allows organizers to easily create, update, and manage events, while students can view event details, register online, and receive instant notifications. </a:t>
            </a:r>
          </a:p>
          <a:p>
            <a:pPr>
              <a:buFont typeface="Arial" pitchFamily="34" charset="0"/>
              <a:buChar char="•"/>
            </a:pPr>
            <a:r>
              <a:rPr lang="en-US" sz="2800" dirty="0"/>
              <a:t>  The system stores all data digitally, reducing manual work and paperwork. It effectively solves issues such as miscommunication, data duplication, and delayed updates. </a:t>
            </a:r>
          </a:p>
          <a:p>
            <a:pPr>
              <a:buFont typeface="Arial" pitchFamily="34" charset="0"/>
              <a:buChar char="•"/>
            </a:pPr>
            <a:r>
              <a:rPr lang="en-US" sz="2800" dirty="0"/>
              <a:t>  Real-time tracking of registrations helps organizers manage participants efficiently.</a:t>
            </a:r>
          </a:p>
          <a:p>
            <a:pPr>
              <a:buFont typeface="Arial" pitchFamily="34" charset="0"/>
              <a:buChar char="•"/>
            </a:pPr>
            <a:r>
              <a:rPr lang="en-US" sz="2800" dirty="0"/>
              <a:t>  Additionally, the portal ensures better accuracy, security, and easy access to information. </a:t>
            </a:r>
          </a:p>
          <a:p>
            <a:pPr>
              <a:buFont typeface="Arial" pitchFamily="34" charset="0"/>
              <a:buChar char="•"/>
            </a:pPr>
            <a:r>
              <a:rPr lang="en-US" sz="2800" dirty="0"/>
              <a:t>  Compared to existing manual systems, it is faster, more reliable, and user-friendly.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3"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4"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5"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8"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1"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14"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17"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0"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23"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5262979"/>
          </a:xfrm>
          <a:prstGeom prst="rect">
            <a:avLst/>
          </a:prstGeom>
          <a:noFill/>
        </p:spPr>
        <p:txBody>
          <a:bodyPr wrap="square" rtlCol="0">
            <a:spAutoFit/>
          </a:bodyPr>
          <a:lstStyle/>
          <a:p>
            <a:pPr marL="457200" indent="-457200"/>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5" name="Picture 34" descr="ChatGPT Image Mar 23, 2026, 10_26_34 PM.png"/>
          <p:cNvPicPr>
            <a:picLocks noChangeAspect="1"/>
          </p:cNvPicPr>
          <p:nvPr/>
        </p:nvPicPr>
        <p:blipFill>
          <a:blip r:embed="rId3"/>
          <a:stretch>
            <a:fillRect/>
          </a:stretch>
        </p:blipFill>
        <p:spPr>
          <a:xfrm>
            <a:off x="2571704" y="1500163"/>
            <a:ext cx="13501782" cy="80010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12157174"/>
          </a:xfrm>
          <a:prstGeom prst="rect">
            <a:avLst/>
          </a:prstGeom>
          <a:noFill/>
        </p:spPr>
        <p:txBody>
          <a:bodyPr wrap="square" rtlCol="0">
            <a:spAutoFit/>
          </a:bodyPr>
          <a:lstStyle/>
          <a:p>
            <a:pPr marL="457200" indent="-457200"/>
            <a:endParaRPr lang="en-US" sz="2800" dirty="0"/>
          </a:p>
          <a:p>
            <a:r>
              <a:rPr lang="en-US" sz="2800" b="1" dirty="0"/>
              <a:t>Input:</a:t>
            </a:r>
            <a:br>
              <a:rPr lang="en-US" sz="2800" dirty="0"/>
            </a:br>
            <a:r>
              <a:rPr lang="en-US" sz="2800" dirty="0"/>
              <a:t>The input consists of data provided by users such as organizers and students. Organizers input event details like name, date, venue, and description, while students provide registration details. This is the starting point of the system.</a:t>
            </a:r>
          </a:p>
          <a:p>
            <a:r>
              <a:rPr lang="en-US" sz="2800" b="1" dirty="0"/>
              <a:t>Processing:</a:t>
            </a:r>
            <a:br>
              <a:rPr lang="en-US" sz="2800" dirty="0"/>
            </a:br>
            <a:r>
              <a:rPr lang="en-US" sz="2800" dirty="0"/>
              <a:t>In this stage, the system processes the input data. It handles event creation, registration management, validation of user details, and sending notifications. It ensures that all operations are performed accurately and efficiently.</a:t>
            </a:r>
          </a:p>
          <a:p>
            <a:r>
              <a:rPr lang="en-US" sz="2800" b="1" dirty="0"/>
              <a:t>Database:</a:t>
            </a:r>
            <a:br>
              <a:rPr lang="en-US" sz="2800" dirty="0"/>
            </a:br>
            <a:r>
              <a:rPr lang="en-US" sz="2800" dirty="0"/>
              <a:t>The database stores all the information such as event details, student registrations, and user data. It allows secure storage, easy retrieval, and updating of data whenever required.</a:t>
            </a:r>
          </a:p>
          <a:p>
            <a:r>
              <a:rPr lang="en-US" sz="2800" b="1" dirty="0"/>
              <a:t>Output:</a:t>
            </a:r>
            <a:br>
              <a:rPr lang="en-US" sz="2800" dirty="0"/>
            </a:br>
            <a:r>
              <a:rPr lang="en-US" sz="2800" dirty="0"/>
              <a:t>The output is the result shown to users. It includes event lists, registration confirmations, participant details, and notifications. This helps users access updated and relevant information quickly.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5" name="Picture 34" descr="ChatGPT Image Mar 23, 2026, 11_08_55 PM.png"/>
          <p:cNvPicPr>
            <a:picLocks noChangeAspect="1"/>
          </p:cNvPicPr>
          <p:nvPr/>
        </p:nvPicPr>
        <p:blipFill>
          <a:blip r:embed="rId3"/>
          <a:stretch>
            <a:fillRect/>
          </a:stretch>
        </p:blipFill>
        <p:spPr>
          <a:xfrm>
            <a:off x="3357522" y="1571600"/>
            <a:ext cx="12287336" cy="81915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85952" y="2000228"/>
            <a:ext cx="15082325" cy="11726287"/>
          </a:xfrm>
          <a:prstGeom prst="rect">
            <a:avLst/>
          </a:prstGeom>
          <a:noFill/>
        </p:spPr>
        <p:txBody>
          <a:bodyPr wrap="square" rtlCol="0">
            <a:spAutoFit/>
          </a:bodyPr>
          <a:lstStyle/>
          <a:p>
            <a:r>
              <a:rPr lang="en-US" sz="2800" b="1" dirty="0"/>
              <a:t>Frontend:</a:t>
            </a:r>
            <a:br>
              <a:rPr lang="en-US" sz="2800" dirty="0"/>
            </a:br>
            <a:r>
              <a:rPr lang="en-US" sz="2800" dirty="0"/>
              <a:t>HTML, CSS, JavaScript.</a:t>
            </a:r>
          </a:p>
          <a:p>
            <a:r>
              <a:rPr lang="en-US" sz="2800" b="1" dirty="0"/>
              <a:t>Backend:</a:t>
            </a:r>
            <a:br>
              <a:rPr lang="en-US" sz="2800" dirty="0"/>
            </a:br>
            <a:r>
              <a:rPr lang="en-US" sz="2800" dirty="0"/>
              <a:t>Node.js.</a:t>
            </a:r>
          </a:p>
          <a:p>
            <a:r>
              <a:rPr lang="en-US" sz="2800" b="1" dirty="0"/>
              <a:t>Database:</a:t>
            </a:r>
            <a:br>
              <a:rPr lang="en-US" sz="2800" dirty="0"/>
            </a:br>
            <a:r>
              <a:rPr lang="en-US" sz="2800" dirty="0" err="1"/>
              <a:t>MySQL</a:t>
            </a:r>
            <a:r>
              <a:rPr lang="en-US" sz="2800" dirty="0"/>
              <a:t>.</a:t>
            </a:r>
          </a:p>
          <a:p>
            <a:r>
              <a:rPr lang="en-US" sz="2800" b="1" dirty="0"/>
              <a:t>Tools:</a:t>
            </a:r>
            <a:br>
              <a:rPr lang="en-US" sz="2800" dirty="0"/>
            </a:br>
            <a:r>
              <a:rPr lang="en-US" sz="2800" dirty="0"/>
              <a:t> VS Code.</a:t>
            </a:r>
          </a:p>
          <a:p>
            <a:r>
              <a:rPr lang="en-US" sz="2800" b="1" dirty="0"/>
              <a:t>Hardware/Software Requirements:</a:t>
            </a:r>
            <a:endParaRPr lang="en-US" sz="2800" dirty="0"/>
          </a:p>
          <a:p>
            <a:r>
              <a:rPr lang="en-US" sz="2800" dirty="0"/>
              <a:t>System with minimum 4GB RAM, 8GB recommended. </a:t>
            </a:r>
          </a:p>
          <a:p>
            <a:r>
              <a:rPr lang="en-US" sz="2800" dirty="0"/>
              <a:t>Operating System: Windows/Linux/Mac .</a:t>
            </a:r>
          </a:p>
          <a:p>
            <a:r>
              <a:rPr lang="en-US" sz="2800" dirty="0"/>
              <a:t>Web Browser (Chrome/Edge) .</a:t>
            </a:r>
          </a:p>
          <a:p>
            <a:r>
              <a:rPr lang="en-US" sz="2800" dirty="0"/>
              <a:t>Internet connection for deployment and access.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10433625"/>
          </a:xfrm>
          <a:prstGeom prst="rect">
            <a:avLst/>
          </a:prstGeom>
          <a:noFill/>
        </p:spPr>
        <p:txBody>
          <a:bodyPr wrap="square" rtlCol="0">
            <a:spAutoFit/>
          </a:bodyPr>
          <a:lstStyle/>
          <a:p>
            <a:r>
              <a:rPr lang="en-US" sz="2800" b="1" dirty="0"/>
              <a:t>Module 1: User Management</a:t>
            </a:r>
            <a:br>
              <a:rPr lang="en-US" sz="2800" dirty="0"/>
            </a:br>
            <a:r>
              <a:rPr lang="en-US" sz="2800" dirty="0"/>
              <a:t>Handles registration and login for both students and organizers. It manages user profiles, authentication, and access control to ensure secure usage of the system.</a:t>
            </a:r>
          </a:p>
          <a:p>
            <a:r>
              <a:rPr lang="en-US" sz="2800" b="1" dirty="0"/>
              <a:t>Module 2: Event Management</a:t>
            </a:r>
            <a:br>
              <a:rPr lang="en-US" sz="2800" dirty="0"/>
            </a:br>
            <a:r>
              <a:rPr lang="en-US" sz="2800" dirty="0"/>
              <a:t>Allows organizers to create, update, and delete events. It includes event details such as date, venue, description, and participant limits.</a:t>
            </a:r>
          </a:p>
          <a:p>
            <a:r>
              <a:rPr lang="en-US" sz="2800" b="1" dirty="0"/>
              <a:t>Module 3: Registration Management</a:t>
            </a:r>
            <a:br>
              <a:rPr lang="en-US" sz="2800" dirty="0"/>
            </a:br>
            <a:r>
              <a:rPr lang="en-US" sz="2800" dirty="0"/>
              <a:t>Enables students to register for events online. It manages participant data, confirms registrations, and avoids duplicate entries.</a:t>
            </a:r>
          </a:p>
          <a:p>
            <a:r>
              <a:rPr lang="en-US" sz="2800" b="1" dirty="0"/>
              <a:t>Module 4: Notification System</a:t>
            </a:r>
            <a:br>
              <a:rPr lang="en-US" sz="2800" dirty="0"/>
            </a:br>
            <a:r>
              <a:rPr lang="en-US" sz="2800" dirty="0"/>
              <a:t>Sends real-time updates, reminders, and confirmations to users about events and registrations.</a:t>
            </a:r>
          </a:p>
          <a:p>
            <a:r>
              <a:rPr lang="en-US" sz="2800" b="1" dirty="0"/>
              <a:t>Module 5: Database Management</a:t>
            </a:r>
            <a:br>
              <a:rPr lang="en-US" sz="2800" dirty="0"/>
            </a:br>
            <a:r>
              <a:rPr lang="en-US" sz="2800" dirty="0"/>
              <a:t>Stores all data related to users, events, and registrations. Ensures data consistency, security, and quick retrieval.</a:t>
            </a:r>
          </a:p>
          <a:p>
            <a:r>
              <a:rPr lang="en-US" sz="2800" b="1" dirty="0"/>
              <a:t>Module 6: Reporting &amp; Analytics</a:t>
            </a:r>
            <a:br>
              <a:rPr lang="en-US" sz="2800" dirty="0"/>
            </a:br>
            <a:r>
              <a:rPr lang="en-US" sz="2800" dirty="0"/>
              <a:t>Generates reports on event participation, registrations, and trends. Helps organizers make better decisions and analyze event success.</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62979"/>
          </a:xfrm>
          <a:prstGeom prst="rect">
            <a:avLst/>
          </a:prstGeom>
          <a:noFill/>
        </p:spPr>
        <p:txBody>
          <a:bodyPr wrap="square" rtlCol="0">
            <a:spAutoFit/>
          </a:bodyPr>
          <a:lstStyle/>
          <a:p>
            <a:pPr marL="457200" indent="-457200"/>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descr="C:\Users\Sanju\Pictures\fsd1.jpg"/>
          <p:cNvPicPr/>
          <p:nvPr/>
        </p:nvPicPr>
        <p:blipFill>
          <a:blip r:embed="rId3"/>
          <a:srcRect/>
          <a:stretch>
            <a:fillRect/>
          </a:stretch>
        </p:blipFill>
        <p:spPr bwMode="auto">
          <a:xfrm>
            <a:off x="2500266" y="1785914"/>
            <a:ext cx="7000924" cy="6357982"/>
          </a:xfrm>
          <a:prstGeom prst="rect">
            <a:avLst/>
          </a:prstGeom>
          <a:noFill/>
          <a:ln w="9525">
            <a:noFill/>
            <a:miter lim="800000"/>
            <a:headEnd/>
            <a:tailEnd/>
          </a:ln>
        </p:spPr>
      </p:pic>
      <p:pic>
        <p:nvPicPr>
          <p:cNvPr id="39" name="Picture 38" descr="C:\Users\Sanju\Pictures\fsd4.jpg"/>
          <p:cNvPicPr/>
          <p:nvPr/>
        </p:nvPicPr>
        <p:blipFill>
          <a:blip r:embed="rId4"/>
          <a:srcRect/>
          <a:stretch>
            <a:fillRect/>
          </a:stretch>
        </p:blipFill>
        <p:spPr bwMode="auto">
          <a:xfrm>
            <a:off x="10215570" y="1785914"/>
            <a:ext cx="7358114" cy="6215106"/>
          </a:xfrm>
          <a:prstGeom prst="rect">
            <a:avLst/>
          </a:prstGeom>
          <a:noFill/>
          <a:ln w="9525">
            <a:noFill/>
            <a:miter lim="800000"/>
            <a:headEnd/>
            <a:tailEnd/>
          </a:ln>
        </p:spPr>
      </p:pic>
      <p:sp>
        <p:nvSpPr>
          <p:cNvPr id="40" name="TextBox 39"/>
          <p:cNvSpPr txBox="1"/>
          <p:nvPr/>
        </p:nvSpPr>
        <p:spPr>
          <a:xfrm>
            <a:off x="4643406" y="8643962"/>
            <a:ext cx="4429156" cy="369332"/>
          </a:xfrm>
          <a:prstGeom prst="rect">
            <a:avLst/>
          </a:prstGeom>
          <a:noFill/>
        </p:spPr>
        <p:txBody>
          <a:bodyPr wrap="square" rtlCol="0">
            <a:spAutoFit/>
          </a:bodyPr>
          <a:lstStyle/>
          <a:p>
            <a:r>
              <a:rPr lang="en-US" dirty="0"/>
              <a:t>Fig 1: Home page</a:t>
            </a:r>
          </a:p>
        </p:txBody>
      </p:sp>
      <p:sp>
        <p:nvSpPr>
          <p:cNvPr id="41" name="TextBox 40"/>
          <p:cNvSpPr txBox="1"/>
          <p:nvPr/>
        </p:nvSpPr>
        <p:spPr>
          <a:xfrm>
            <a:off x="11430016" y="8715400"/>
            <a:ext cx="3938963" cy="369332"/>
          </a:xfrm>
          <a:prstGeom prst="rect">
            <a:avLst/>
          </a:prstGeom>
          <a:noFill/>
        </p:spPr>
        <p:txBody>
          <a:bodyPr wrap="none" rtlCol="0">
            <a:spAutoFit/>
          </a:bodyPr>
          <a:lstStyle/>
          <a:p>
            <a:r>
              <a:rPr lang="en-US" dirty="0"/>
              <a:t>Fig 2: Student login page with validation</a:t>
            </a:r>
          </a:p>
        </p:txBody>
      </p:sp>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5693866"/>
          </a:xfrm>
          <a:prstGeom prst="rect">
            <a:avLst/>
          </a:prstGeom>
          <a:noFill/>
        </p:spPr>
        <p:txBody>
          <a:bodyPr wrap="square" rtlCol="0">
            <a:spAutoFit/>
          </a:bodyPr>
          <a:lstStyle/>
          <a:p>
            <a:pPr marL="457200" indent="-457200"/>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descr="C:\Users\Sanju\Pictures\fsd6.jpg"/>
          <p:cNvPicPr/>
          <p:nvPr/>
        </p:nvPicPr>
        <p:blipFill>
          <a:blip r:embed="rId3"/>
          <a:srcRect/>
          <a:stretch>
            <a:fillRect/>
          </a:stretch>
        </p:blipFill>
        <p:spPr bwMode="auto">
          <a:xfrm>
            <a:off x="2500266" y="2143104"/>
            <a:ext cx="6500858" cy="5857916"/>
          </a:xfrm>
          <a:prstGeom prst="rect">
            <a:avLst/>
          </a:prstGeom>
          <a:noFill/>
          <a:ln w="9525">
            <a:noFill/>
            <a:miter lim="800000"/>
            <a:headEnd/>
            <a:tailEnd/>
          </a:ln>
        </p:spPr>
      </p:pic>
      <p:sp>
        <p:nvSpPr>
          <p:cNvPr id="39" name="TextBox 38"/>
          <p:cNvSpPr txBox="1"/>
          <p:nvPr/>
        </p:nvSpPr>
        <p:spPr>
          <a:xfrm>
            <a:off x="3286084" y="8643962"/>
            <a:ext cx="5157759" cy="646331"/>
          </a:xfrm>
          <a:prstGeom prst="rect">
            <a:avLst/>
          </a:prstGeom>
          <a:noFill/>
        </p:spPr>
        <p:txBody>
          <a:bodyPr wrap="none" rtlCol="0">
            <a:spAutoFit/>
          </a:bodyPr>
          <a:lstStyle/>
          <a:p>
            <a:r>
              <a:rPr lang="en-US" dirty="0"/>
              <a:t>Fig 3: showing upcoming  events ,and able to register</a:t>
            </a:r>
          </a:p>
          <a:p>
            <a:r>
              <a:rPr lang="en-US" dirty="0"/>
              <a:t>   by clicking Quick Register button</a:t>
            </a:r>
          </a:p>
        </p:txBody>
      </p:sp>
      <p:pic>
        <p:nvPicPr>
          <p:cNvPr id="40" name="Picture 39" descr="C:\Users\Sanju\Pictures\fsd7.jpg"/>
          <p:cNvPicPr/>
          <p:nvPr/>
        </p:nvPicPr>
        <p:blipFill>
          <a:blip r:embed="rId4"/>
          <a:srcRect/>
          <a:stretch>
            <a:fillRect/>
          </a:stretch>
        </p:blipFill>
        <p:spPr bwMode="auto">
          <a:xfrm>
            <a:off x="9429752" y="2071666"/>
            <a:ext cx="7072362" cy="5929354"/>
          </a:xfrm>
          <a:prstGeom prst="rect">
            <a:avLst/>
          </a:prstGeom>
          <a:noFill/>
          <a:ln w="9525">
            <a:noFill/>
            <a:miter lim="800000"/>
            <a:headEnd/>
            <a:tailEnd/>
          </a:ln>
        </p:spPr>
      </p:pic>
      <p:sp>
        <p:nvSpPr>
          <p:cNvPr id="41" name="TextBox 40"/>
          <p:cNvSpPr txBox="1"/>
          <p:nvPr/>
        </p:nvSpPr>
        <p:spPr>
          <a:xfrm>
            <a:off x="12001520" y="8572524"/>
            <a:ext cx="2423740" cy="369332"/>
          </a:xfrm>
          <a:prstGeom prst="rect">
            <a:avLst/>
          </a:prstGeom>
          <a:noFill/>
        </p:spPr>
        <p:txBody>
          <a:bodyPr wrap="none" rtlCol="0">
            <a:spAutoFit/>
          </a:bodyPr>
          <a:lstStyle/>
          <a:p>
            <a:r>
              <a:rPr lang="en-US" dirty="0"/>
              <a:t>Fig 4: Admin login page </a:t>
            </a:r>
          </a:p>
        </p:txBody>
      </p:sp>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descr="C:\Users\Sanju\Pictures\fsd8.jpg"/>
          <p:cNvPicPr/>
          <p:nvPr/>
        </p:nvPicPr>
        <p:blipFill>
          <a:blip r:embed="rId3"/>
          <a:srcRect/>
          <a:stretch>
            <a:fillRect/>
          </a:stretch>
        </p:blipFill>
        <p:spPr bwMode="auto">
          <a:xfrm>
            <a:off x="2500266" y="1714476"/>
            <a:ext cx="13644658" cy="6715172"/>
          </a:xfrm>
          <a:prstGeom prst="rect">
            <a:avLst/>
          </a:prstGeom>
          <a:noFill/>
          <a:ln w="9525">
            <a:noFill/>
            <a:miter lim="800000"/>
            <a:headEnd/>
            <a:tailEnd/>
          </a:ln>
        </p:spPr>
      </p:pic>
      <p:sp>
        <p:nvSpPr>
          <p:cNvPr id="39" name="TextBox 38"/>
          <p:cNvSpPr txBox="1"/>
          <p:nvPr/>
        </p:nvSpPr>
        <p:spPr>
          <a:xfrm>
            <a:off x="6072166" y="9072590"/>
            <a:ext cx="5098896" cy="369332"/>
          </a:xfrm>
          <a:prstGeom prst="rect">
            <a:avLst/>
          </a:prstGeom>
          <a:noFill/>
        </p:spPr>
        <p:txBody>
          <a:bodyPr wrap="none" rtlCol="0">
            <a:spAutoFit/>
          </a:bodyPr>
          <a:lstStyle/>
          <a:p>
            <a:r>
              <a:rPr lang="en-US" dirty="0"/>
              <a:t>Fig 5: Admin dashboard, and also can create events .</a:t>
            </a:r>
          </a:p>
        </p:txBody>
      </p:sp>
    </p:spTree>
    <p:extLst>
      <p:ext uri="{BB962C8B-B14F-4D97-AF65-F5344CB8AC3E}">
        <p14:creationId xmlns:p14="http://schemas.microsoft.com/office/powerpoint/2010/main" val="4754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descr="fsd9.jpg"/>
          <p:cNvPicPr/>
          <p:nvPr/>
        </p:nvPicPr>
        <p:blipFill>
          <a:blip r:embed="rId3"/>
          <a:stretch>
            <a:fillRect/>
          </a:stretch>
        </p:blipFill>
        <p:spPr>
          <a:xfrm>
            <a:off x="2214514" y="1857352"/>
            <a:ext cx="7429552" cy="6286544"/>
          </a:xfrm>
          <a:prstGeom prst="rect">
            <a:avLst/>
          </a:prstGeom>
        </p:spPr>
      </p:pic>
      <p:pic>
        <p:nvPicPr>
          <p:cNvPr id="39" name="Picture 38" descr="fsd10.jpg"/>
          <p:cNvPicPr/>
          <p:nvPr/>
        </p:nvPicPr>
        <p:blipFill>
          <a:blip r:embed="rId4"/>
          <a:stretch>
            <a:fillRect/>
          </a:stretch>
        </p:blipFill>
        <p:spPr>
          <a:xfrm>
            <a:off x="10001256" y="1785914"/>
            <a:ext cx="7429552" cy="6357982"/>
          </a:xfrm>
          <a:prstGeom prst="rect">
            <a:avLst/>
          </a:prstGeom>
        </p:spPr>
      </p:pic>
      <p:sp>
        <p:nvSpPr>
          <p:cNvPr id="40" name="TextBox 39"/>
          <p:cNvSpPr txBox="1"/>
          <p:nvPr/>
        </p:nvSpPr>
        <p:spPr>
          <a:xfrm>
            <a:off x="3357522" y="8643962"/>
            <a:ext cx="3967176" cy="646331"/>
          </a:xfrm>
          <a:prstGeom prst="rect">
            <a:avLst/>
          </a:prstGeom>
          <a:noFill/>
        </p:spPr>
        <p:txBody>
          <a:bodyPr wrap="none" rtlCol="0">
            <a:spAutoFit/>
          </a:bodyPr>
          <a:lstStyle/>
          <a:p>
            <a:r>
              <a:rPr lang="en-US" dirty="0"/>
              <a:t>Fig 6: Admin can add the event by using </a:t>
            </a:r>
          </a:p>
          <a:p>
            <a:r>
              <a:rPr lang="en-US" dirty="0"/>
              <a:t>   the button “Publish Event” as shown .</a:t>
            </a:r>
          </a:p>
        </p:txBody>
      </p:sp>
      <p:sp>
        <p:nvSpPr>
          <p:cNvPr id="41" name="TextBox 40"/>
          <p:cNvSpPr txBox="1"/>
          <p:nvPr/>
        </p:nvSpPr>
        <p:spPr>
          <a:xfrm>
            <a:off x="10715636" y="8786838"/>
            <a:ext cx="5925020" cy="369332"/>
          </a:xfrm>
          <a:prstGeom prst="rect">
            <a:avLst/>
          </a:prstGeom>
          <a:noFill/>
        </p:spPr>
        <p:txBody>
          <a:bodyPr wrap="none" rtlCol="0">
            <a:spAutoFit/>
          </a:bodyPr>
          <a:lstStyle/>
          <a:p>
            <a:r>
              <a:rPr lang="en-US" dirty="0"/>
              <a:t>Fig 7: Admin can delete the event by delete button as shown.</a:t>
            </a:r>
          </a:p>
        </p:txBody>
      </p:sp>
    </p:spTree>
    <p:extLst>
      <p:ext uri="{BB962C8B-B14F-4D97-AF65-F5344CB8AC3E}">
        <p14:creationId xmlns:p14="http://schemas.microsoft.com/office/powerpoint/2010/main" val="8488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4" name="TextBox 33"/>
          <p:cNvSpPr txBox="1"/>
          <p:nvPr/>
        </p:nvSpPr>
        <p:spPr>
          <a:xfrm>
            <a:off x="2357390" y="1857352"/>
            <a:ext cx="13501782" cy="6124754"/>
          </a:xfrm>
          <a:prstGeom prst="rect">
            <a:avLst/>
          </a:prstGeom>
          <a:noFill/>
        </p:spPr>
        <p:txBody>
          <a:bodyPr wrap="square" rtlCol="0">
            <a:spAutoFit/>
          </a:bodyPr>
          <a:lstStyle/>
          <a:p>
            <a:r>
              <a:rPr lang="en-US" sz="2800" b="1" dirty="0"/>
              <a:t>Advantages:</a:t>
            </a:r>
          </a:p>
          <a:p>
            <a:pPr>
              <a:buFont typeface="Arial" pitchFamily="34" charset="0"/>
              <a:buChar char="•"/>
            </a:pPr>
            <a:r>
              <a:rPr lang="en-US" sz="2800" dirty="0"/>
              <a:t>Reduces manual work and paperwork through automation </a:t>
            </a:r>
          </a:p>
          <a:p>
            <a:pPr>
              <a:buFont typeface="Arial" pitchFamily="34" charset="0"/>
              <a:buChar char="•"/>
            </a:pPr>
            <a:r>
              <a:rPr lang="en-US" sz="2800" dirty="0"/>
              <a:t>Provides a centralized platform for all campus events </a:t>
            </a:r>
          </a:p>
          <a:p>
            <a:pPr>
              <a:buFont typeface="Arial" pitchFamily="34" charset="0"/>
              <a:buChar char="•"/>
            </a:pPr>
            <a:r>
              <a:rPr lang="en-US" sz="2800" dirty="0"/>
              <a:t>Enables real-time updates and notifications </a:t>
            </a:r>
          </a:p>
          <a:p>
            <a:pPr>
              <a:buFont typeface="Arial" pitchFamily="34" charset="0"/>
              <a:buChar char="•"/>
            </a:pPr>
            <a:r>
              <a:rPr lang="en-US" sz="2800" dirty="0"/>
              <a:t>Improves accuracy and reduces data duplication </a:t>
            </a:r>
          </a:p>
          <a:p>
            <a:pPr>
              <a:buFont typeface="Arial" pitchFamily="34" charset="0"/>
              <a:buChar char="•"/>
            </a:pPr>
            <a:r>
              <a:rPr lang="en-US" sz="2800" dirty="0"/>
              <a:t>Easy access for students and organizers anytime </a:t>
            </a:r>
          </a:p>
          <a:p>
            <a:pPr>
              <a:buFont typeface="Arial" pitchFamily="34" charset="0"/>
              <a:buChar char="•"/>
            </a:pPr>
            <a:r>
              <a:rPr lang="en-US" sz="2800" dirty="0"/>
              <a:t>Efficient management and tracking of registrations </a:t>
            </a:r>
          </a:p>
          <a:p>
            <a:r>
              <a:rPr lang="en-US" sz="2800" b="1" dirty="0"/>
              <a:t>Limitations:</a:t>
            </a:r>
          </a:p>
          <a:p>
            <a:pPr>
              <a:buFont typeface="Arial" pitchFamily="34" charset="0"/>
              <a:buChar char="•"/>
            </a:pPr>
            <a:r>
              <a:rPr lang="en-US" sz="2800" dirty="0"/>
              <a:t>Requires internet connectivity for access </a:t>
            </a:r>
          </a:p>
          <a:p>
            <a:pPr>
              <a:buFont typeface="Arial" pitchFamily="34" charset="0"/>
              <a:buChar char="•"/>
            </a:pPr>
            <a:r>
              <a:rPr lang="en-US" sz="2800" dirty="0"/>
              <a:t>Initial development and setup cost </a:t>
            </a:r>
          </a:p>
          <a:p>
            <a:pPr>
              <a:buFont typeface="Arial" pitchFamily="34" charset="0"/>
              <a:buChar char="•"/>
            </a:pPr>
            <a:r>
              <a:rPr lang="en-US" sz="2800" dirty="0"/>
              <a:t>Dependence on system maintenance and updates </a:t>
            </a:r>
          </a:p>
          <a:p>
            <a:pPr>
              <a:buFont typeface="Arial" pitchFamily="34" charset="0"/>
              <a:buChar char="•"/>
            </a:pPr>
            <a:r>
              <a:rPr lang="en-US" sz="2800" dirty="0"/>
              <a:t>Possible security risks if not properly managed </a:t>
            </a:r>
          </a:p>
          <a:p>
            <a:pPr>
              <a:buFont typeface="Arial" pitchFamily="34" charset="0"/>
              <a:buChar char="•"/>
            </a:pPr>
            <a:r>
              <a:rPr lang="en-US" sz="2800" dirty="0"/>
              <a:t>Users may need basic technical knowledge to operate the system </a:t>
            </a:r>
          </a:p>
          <a:p>
            <a:endParaRPr lang="en-US" sz="2800" dirty="0"/>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404</TotalTime>
  <Words>1317</Words>
  <Application>Microsoft Office PowerPoint</Application>
  <PresentationFormat>Custom</PresentationFormat>
  <Paragraphs>344</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Times New Roman</vt:lpstr>
      <vt:lpstr>Bookman Old Style</vt:lpstr>
      <vt:lpstr>Calibri</vt:lpstr>
      <vt:lpstr>Cambria</vt:lpstr>
      <vt:lpstr>Arial</vt:lpstr>
      <vt:lpstr>Gotham Bold Italics</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Sanju</dc:creator>
  <cp:lastModifiedBy>Tirumani Indrani</cp:lastModifiedBy>
  <cp:revision>16</cp:revision>
  <dcterms:created xsi:type="dcterms:W3CDTF">2006-08-16T00:00:00Z</dcterms:created>
  <dcterms:modified xsi:type="dcterms:W3CDTF">2026-05-06T08:21:38Z</dcterms:modified>
  <dc:identifier>DAHCaYqJ9OU</dc:identifier>
</cp:coreProperties>
</file>